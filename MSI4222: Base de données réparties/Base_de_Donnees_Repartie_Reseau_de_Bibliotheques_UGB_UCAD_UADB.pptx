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Prata"/>
      <p:regular r:id="rId201314"/>
    </p:embeddedFont>
    <p:embeddedFont>
      <p:font typeface="Raleway ExtraBold"/>
      <p:regular r:id="rId201315"/>
    </p:embeddedFont>
    <p:embeddedFont>
      <p:font typeface="Raleway Medium"/>
      <p:regular r:id="rId201316"/>
    </p:embeddedFont>
    <p:embeddedFont>
      <p:font typeface="Raleway SemiBold"/>
      <p:regular r:id="rId201317"/>
    </p:embeddedFont>
    <p:embeddedFont>
      <p:font typeface="Raleway Bold"/>
      <p:regular r:id="rId201318"/>
    </p:embeddedFont>
    <p:embeddedFont>
      <p:font typeface="Raleway Black"/>
      <p:regular r:id="rId201319"/>
    </p:embeddedFont>
    <p:embeddedFont>
      <p:font typeface="Raleway Thin"/>
      <p:regular r:id="rId201320"/>
    </p:embeddedFont>
    <p:embeddedFont>
      <p:font typeface="Raleway ExtraLight"/>
      <p:regular r:id="rId201321"/>
    </p:embeddedFont>
    <p:embeddedFont>
      <p:font typeface="Raleway Light"/>
      <p:regular r:id="rId201322"/>
    </p:embeddedFont>
    <p:embeddedFont>
      <p:font typeface="Raleway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324719"/>
            <a:ext cx="1595289" cy="215354"/>
          </a:xfrm>
          <a:prstGeom prst="roundRect">
            <a:avLst>
              <a:gd name="adj" fmla="val 7900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367210"/>
            <a:ext cx="18823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POSTGRESQL 16 · FASTAPI 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596777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Base de Données Répartie :</a:t>
            </a:r>
            <a:endParaRPr lang="en-US" sz="27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Réseau de Bibliothèques UGB – UCAD – UADB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13833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Mutualisation des catalogues de trois universités sénégalaises via une architecture distribuée garantissant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C83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cohérence stricte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transparence de localisation et tolérance aux pannes.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97892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77011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CHAPITRE 1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Architecture Réseau et Physique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618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Trois instances PostgreSQL 16 autonomes, interconnectées en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graphe complet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via l'extension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postgres_fdw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 Chaque site expose ses données aux deux autres tout en conservant sa souveraineté.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50863"/>
            <a:ext cx="3989412" cy="3989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232" y="267585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Connexions FDW bidirectionnelles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663232" y="2822004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2E7D32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UGB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Saint-Louis ·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bd_ugb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1565C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UCAD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Dakar ·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bd_ucad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FC833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UADB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Bambey ·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bd_uadb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63232" y="3133725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Chaque site interroge les deux autres via des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foreign tables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sans réplication passive ni middleware central.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14487"/>
            <a:ext cx="806872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056977"/>
            <a:ext cx="10939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CHAPITRE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865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Stratégies de Fragmentation et Réplication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42133"/>
            <a:ext cx="2622724" cy="2186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2067446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6927" y="2528218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Fragmentation Horizontale Primaire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6927" y="3056186"/>
            <a:ext cx="2301106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Tables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Étudiant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Ouvrage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partitionnées par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selon le site d'appartenance. Chaque fragment est local et exclusif.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601" y="1942133"/>
            <a:ext cx="2622724" cy="21868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5662" y="206744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1410" y="2528218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Fragmentation Dé Dérivée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421410" y="283472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table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Prêt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suit la localisation de l'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Ouvrage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parent. Les retours croisés sont interdits au niveau schéma.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5083" y="1942133"/>
            <a:ext cx="2622724" cy="218688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30145" y="2067446"/>
            <a:ext cx="212601" cy="21260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85892" y="2528218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Réplication ROWA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6185892" y="283472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table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Auteur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est répliquée sur les trois sites (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 One, Write All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). Lecture locale, écriture propagée partout.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61206"/>
            <a:ext cx="80828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003697"/>
            <a:ext cx="10953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CHAPITRE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3326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Annuaire de Répartition et Clés Uniques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3061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Plages d'identifiants disjointes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9382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Chaque site se voit attribuer une plage numérique exclusive, éliminant toute collision sans coordination réseau.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20181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E7D32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UGB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: ID 1 – 999 999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65C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UCAD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: ID 1 000 000 – 1 999 999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C833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UADB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: ID 2 000 000 – 2 999 999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030611"/>
            <a:ext cx="39029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Table locale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annuaire_site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40335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Référentiel statique répliqué sur chaque nœud. Le routage d'une requête vers le bon site est résolu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localement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sans latence réseau.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49701" y="3243263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71660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458319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0398" y="340622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Détection du site cible en O(1) par extraction du préfixe de l'identifiant.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813"/>
            <a:ext cx="746299" cy="198462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477" y="443954"/>
            <a:ext cx="1046783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CHAPITRE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421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Algorithme d'un Emprunt Croisé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40482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367990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Commit ou rollback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Double écriture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48262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Quota distant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48262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Vérif. locale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336926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 verrou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UPDATE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prévient les lectures sales. L'ensemble constitue une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transaction atomique répartie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: commit global ou rollback intégral — aucune demi-mesure.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96119"/>
            <a:ext cx="70849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9533" y="533326"/>
            <a:ext cx="101686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CHAPITRE 5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72806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Résilience et Gestion des Pannes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925119" y="1665908"/>
            <a:ext cx="14288" cy="430113"/>
          </a:xfrm>
          <a:prstGeom prst="roundRect">
            <a:avLst>
              <a:gd name="adj" fmla="val 59998"/>
            </a:avLst>
          </a:prstGeom>
          <a:solidFill>
            <a:srgbClr val="EEE27D"/>
          </a:solidFill>
          <a:ln/>
        </p:spPr>
      </p:sp>
      <p:sp>
        <p:nvSpPr>
          <p:cNvPr id="7" name="Text 4"/>
          <p:cNvSpPr/>
          <p:nvPr/>
        </p:nvSpPr>
        <p:spPr>
          <a:xfrm>
            <a:off x="4111154" y="1787947"/>
            <a:ext cx="49939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"La lecture doit survivre. L'écriture indispensable doit échouer proprement."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2218060"/>
            <a:ext cx="2307134" cy="1437084"/>
          </a:xfrm>
          <a:prstGeom prst="roundRect">
            <a:avLst>
              <a:gd name="adj" fmla="val 1295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4049092" y="2342034"/>
            <a:ext cx="20591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Catalogue Résilient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49092" y="2600995"/>
            <a:ext cx="2059186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cas de panne d'un site, les lectures sur les deux sites opérationnels restent disponibles. Le catalogue partiel est servi sans interruption.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40748" y="2218060"/>
            <a:ext cx="2307134" cy="1437084"/>
          </a:xfrm>
          <a:prstGeom prst="roundRect">
            <a:avLst>
              <a:gd name="adj" fmla="val 1295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6464722" y="2342034"/>
            <a:ext cx="20591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Rollback Atomique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64722" y="2600995"/>
            <a:ext cx="205918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 un nœud est injoignable lors d'un emprunt croisé, la transaction est annulée intégralement sur tous les sites — aucune écriture partielle.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763640"/>
            <a:ext cx="4722763" cy="883741"/>
          </a:xfrm>
          <a:prstGeom prst="roundRect">
            <a:avLst>
              <a:gd name="adj" fmla="val 2105"/>
            </a:avLst>
          </a:prstGeom>
          <a:solidFill>
            <a:srgbClr val="3A3B3C"/>
          </a:solidFill>
          <a:ln/>
        </p:spPr>
      </p:sp>
      <p:sp>
        <p:nvSpPr>
          <p:cNvPr id="15" name="Text 12"/>
          <p:cNvSpPr/>
          <p:nvPr/>
        </p:nvSpPr>
        <p:spPr>
          <a:xfrm>
            <a:off x="4049092" y="3887614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Détection de Panne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49092" y="4146575"/>
            <a:ext cx="4474815" cy="3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Timeouts configurés et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try/catch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PL/pgSQL garantissent une remontée d'erreur propre vers l'application cliente.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9472"/>
            <a:ext cx="752252" cy="198462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477" y="458614"/>
            <a:ext cx="1052736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CHAPITRE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6080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Application Web et Routage Dynamique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9907"/>
            <a:ext cx="5187032" cy="29392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6703" y="1375618"/>
            <a:ext cx="264586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Architecture Multi-tenant FastAPI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1904330"/>
            <a:ext cx="264586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Une base de code unique gère les trois sites. Le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pool de connexions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est sélectionné dynamiquement selon l'identifiant de l'utilisateur, dérivé de la plage ID.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6703" y="3016969"/>
            <a:ext cx="2645866" cy="10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Extraction du préfixe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→ site cible identifié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Sélection du pool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PostgreSQL dédié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Délégation métier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aux procédures 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PL/pgSQL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06703" y="4213845"/>
            <a:ext cx="264586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logique transactionnelle reste en base — l'API orchestre, ne calcule pas.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449"/>
            <a:ext cx="901005" cy="212006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834" y="464269"/>
            <a:ext cx="1190774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9372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Bilan et Perspectives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46885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Ce qui a été réalisé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24261"/>
            <a:ext cx="3905696" cy="192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Cohérence stricte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garantie par transactions atomiques réparties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Transparence de localisation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via 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postgres_fdw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et annuaire local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Résilience lecture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assurée même en cas de panne partielle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Intégrité référentielle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maintenue par fragmentation dérivée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6947" y="146885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Évolutions envisagées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6947" y="1824261"/>
            <a:ext cx="3905696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Intégration du protocole 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2PC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i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Two-Phase Commit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 natif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Réplication logique pour le catalogue 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Auteur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Supervision centralisée des liens FDW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Extension du réseau à d'autres universités sénégalaises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3947443"/>
            <a:ext cx="8151763" cy="773534"/>
          </a:xfrm>
          <a:prstGeom prst="roundRect">
            <a:avLst>
              <a:gd name="adj" fmla="val 2706"/>
            </a:avLst>
          </a:prstGeom>
          <a:solidFill>
            <a:srgbClr val="71660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4147319"/>
            <a:ext cx="174427" cy="139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9598" y="4119637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 projet démontre qu'une architecture distribuée rigoureuse peut mutualiser des ressources documentaires à l'échelle nationale, sans sacrifier la cohérence ni la disponibilité.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2026-07-14T03:03:05Z</dcterms:created>
  <dcterms:modified xsi:type="dcterms:W3CDTF">2026-07-14T03:03:05Z</dcterms:modified>
</cp:coreProperties>
</file>