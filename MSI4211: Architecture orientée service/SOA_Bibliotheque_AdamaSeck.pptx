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garde. Prenez 30 secondes pour vous présenter et introduire brièvement le contexte avant de passer à la suite.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Insistez sur le fait que derrière un besoin qui paraît simple se cache un vrai système d'information avec des règles métier précises, des rôles différents et un besoin de fiabilité.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trois axes forment un tout cohérent : le fonctionnel justifie l'existence du projet, le technique justifie les choix d'implémentation, et l'architectural justifie le lien avec le cours SOA.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Annoncez clairement les cinq grandes parties. Cela donne de la structure et montre que la présentation est bien préparée.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L'architecture monolithique n'est pas mauvaise en soi — elle reste valide pour de petits projets. Mais elle montre ses limites quand le projet grandit.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SOA ne signifie pas microservices. SOA, c'est organiser un système en services métier bien délimités qui communiquent via des interfaces standardisées. C'est exactement ce que nous avons fait.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différence clé avec SOA : dans les microservices, chaque service a sa propre BDD, son propre cycle de déploiement et peut être mis à l'échelle individuellement. C'est puissant mais complexe.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tableau est central dans la présentation. Prenez le temps de commenter colonne par colonne, en particulier la colonne SOA qui justifie notre choix de projet.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ici que vous montrez votre maîtrise du sujet. SOA ne se déclare pas — ça se démontre par les choix d'architecture que vous avez faits.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Introduisez le projet avec enthousiasme. Ce n'est pas un simple CRUD — c'est un système d'information complet avec des règles métier réelles.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séparation des rôles est fondamentale. Insistez sur le fait que ces rôles sont gérés à deux niveaux : côté frontend (interface adaptée) ET côté backend (routes protégées).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règles métier montrent la maturité du projet. Ce ne sont pas des contraintes techniques — ce sont des règles fonctionnelles qui reflètent la réalité d'une bibliothèque.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le schéma central de l'architecture. Décrivez chaque couche de haut en bas, et expliquez comment elles communiquent.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service correspond exactement à un domaine métier. C'est la preuve que nous avons pensé SOA dès la conception.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Cette architecture en couches est la mise en pratique directe des principes SOA : chaque couche a une responsabilité unique et ne communique qu'avec la couche adjacente.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schéma montre concrètement comment les couches interagissent. Utilisez-le pour répondre à la question 'comment fonctionne votre application 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sécurité à deux niveaux est une bonne pratique SOA : le backend ne fait jamais confiance au frontend, et le frontend guide l'utilisateur vers les actions autorisées.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modèle de données est simple mais complet. La table loans est la table centrale — elle fait le lien entre les utilisateurs et les livres.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Cet ensemble d'endpoints est le contrat de service SOA. Il définit clairement ce que l'API expose, comment l'appeler, et qui peut l'appeler.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parcours membre est fluide et guidé. L'interface adapte les boutons affichés selon le statut de chaque livre (disponible / déjà emprunté par lui).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L'étape 6 est cruciale à mentionner explicitement — c'est la règle métier la plus importante du projet et elle doit être démontrée si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Cette slide répond à la question classique du professeur : 'Mais n'est-ce pas simplement un monolithe bien organisé ?' — La réponse est non, et voici pourquoi.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Cette honnêteté technique est un point fort en soutenance. Montrer qu'on sait ce qu'on n'est PAS, c'est prouver qu'on comprend vraiment les architectures.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Récapitulez ici tout ce que le projet démontre en termes de compétences architecturales. C'est votre vitrine.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Reconnaître les limites montre la maturité de l'analyse. Cela prouve que vous comprenez l'architecture au-delà du simple projet.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conclusion doit être mémorable. Résumez en 3 phrases max ce que le projet démontre.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Préparez-vous à répondre sans notes. Mémorisez les 3 premières questions — ce sont les plus fréquentes.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questions 9-10 sont souvent posées par les professeurs qui veulent évaluer la réflexivité. Montrez que vous avez pensé au-delà du projet.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Terminez avec confiance. Restez debout, regardez le public, et invitez les questions avec un sourire. Vous maîtrisez votre sujet.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Plateforme de Gestion de Bibliothèque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Orientée Services (SOA)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0" y="2331720"/>
            <a:ext cx="457200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51460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 :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Orientée Service
</a:t>
            </a:r>
            <a:pPr algn="ctr" indent="0" marL="0">
              <a:buNone/>
            </a:pPr>
            <a:r>
              <a:rPr lang="en-US" sz="1400" b="1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 :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Seck
</a:t>
            </a:r>
            <a:pPr algn="ctr" indent="0" marL="0">
              <a:buNone/>
            </a:pPr>
            <a:r>
              <a:rPr lang="en-US" sz="1400" b="1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 :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Personnel de Fin de Module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d'Information Modulaire · API REST · JWT · Docker · MySQL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&amp; Problématique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numériser la gestion d'une bibliothèque 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3474720"/>
          </a:xfrm>
          <a:prstGeom prst="roundRect">
            <a:avLst>
              <a:gd name="adj" fmla="val 3158"/>
            </a:avLst>
          </a:prstGeom>
          <a:solidFill>
            <a:srgbClr val="FFF7F0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1732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1463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Manuelle : Problèmes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920240"/>
            <a:ext cx="37947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Inventaire papier : pertes et erreurs fréquentes
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emprunts impossible à grande échelle
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visibilité sur la disponibilité des livres
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de contrôle d'accès et de traçabilité
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inexistantes pour la direction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63440" y="1234440"/>
            <a:ext cx="4114800" cy="3474720"/>
          </a:xfrm>
          <a:prstGeom prst="roundRect">
            <a:avLst>
              <a:gd name="adj" fmla="val 3158"/>
            </a:avLst>
          </a:prstGeom>
          <a:solidFill>
            <a:srgbClr val="F0F7FF"/>
          </a:solidFill>
          <a:ln w="12700">
            <a:solidFill>
              <a:srgbClr val="2D5FA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41732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21808" y="1463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Numérique : Enjeux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846320" y="1920240"/>
            <a:ext cx="37947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centralisé et consultable en temps réel
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automatisée des emprunts et retours
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strict des droits par rôle utilisateur
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complète de chaque action métier
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Tableaux de bord et statistiques pour l'admin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du Projet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Fonctionnels · Techniques · Architecturaux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697480" cy="3566160"/>
          </a:xfrm>
          <a:prstGeom prst="roundRect">
            <a:avLst>
              <a:gd name="adj" fmla="val 4068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129844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1828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Fonctionnels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29768" y="2359152"/>
            <a:ext cx="2487168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 catalogue de livres et catégories
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Authentifier les utilisateurs (Admin / Membre)
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Permettre l'emprunt et le retour de livres
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Visualiser les statistiques et le dashboard
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Appliquer des droits selon le rôle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0" y="1234440"/>
            <a:ext cx="2697480" cy="3566160"/>
          </a:xfrm>
          <a:prstGeom prst="roundRect">
            <a:avLst>
              <a:gd name="adj" fmla="val 4068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1298448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91840" y="1828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Techniques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3310128" y="2359152"/>
            <a:ext cx="2487168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une API REST PHP modulaire
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Sécuriser les routes avec JWT
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Séparer frontend et backend
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Containeriser avec Docker
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Persister les données avec MySQL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080760" y="1234440"/>
            <a:ext cx="2697480" cy="3566160"/>
          </a:xfrm>
          <a:prstGeom prst="roundRect">
            <a:avLst>
              <a:gd name="adj" fmla="val 4068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328" y="1298448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72200" y="1828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Architecturaux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6190488" y="2359152"/>
            <a:ext cx="2487168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Appliquer les principes SOA
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métier indépendants
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 couplage entre composants
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Controller/Service/Repository
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Réutilisabilité et maintenabilité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la Présentation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633472" cy="1463040"/>
          </a:xfrm>
          <a:prstGeom prst="roundRect">
            <a:avLst>
              <a:gd name="adj" fmla="val 7500"/>
            </a:avLst>
          </a:prstGeom>
          <a:solidFill>
            <a:srgbClr val="1E2D5B"/>
          </a:solidFill>
          <a:ln w="254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90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38912" y="1527048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Rappel Théorique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" y="1938528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Monolithique · SOA · Microservices · Comparaison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82112" y="1051560"/>
            <a:ext cx="2633472" cy="1463040"/>
          </a:xfrm>
          <a:prstGeom prst="roundRect">
            <a:avLst>
              <a:gd name="adj" fmla="val 7500"/>
            </a:avLst>
          </a:prstGeom>
          <a:solidFill>
            <a:srgbClr val="1E2D5B"/>
          </a:solidFill>
          <a:ln w="25400">
            <a:solidFill>
              <a:srgbClr val="0D9B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82112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55264" y="1527048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Présentation du Projet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55264" y="1938528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· Acteurs · Règles métier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98464" y="1051560"/>
            <a:ext cx="2633472" cy="1463040"/>
          </a:xfrm>
          <a:prstGeom prst="roundRect">
            <a:avLst>
              <a:gd name="adj" fmla="val 7500"/>
            </a:avLst>
          </a:prstGeom>
          <a:solidFill>
            <a:srgbClr val="1E2D5B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98464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071616" y="1527048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de la Solution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71616" y="1938528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· Couches · Flux · Sécurité · BDD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4069080" cy="1463040"/>
          </a:xfrm>
          <a:prstGeom prst="roundRect">
            <a:avLst>
              <a:gd name="adj" fmla="val 7500"/>
            </a:avLst>
          </a:prstGeom>
          <a:solidFill>
            <a:srgbClr val="1E2D5B"/>
          </a:solidFill>
          <a:ln w="25400">
            <a:solidFill>
              <a:srgbClr val="F0A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38912" y="3218688"/>
            <a:ext cx="3922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Illustration &amp; Parcours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" y="3630168"/>
            <a:ext cx="3922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· Parcours Admin / Membre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82112" y="2743200"/>
            <a:ext cx="4069080" cy="1463040"/>
          </a:xfrm>
          <a:prstGeom prst="roundRect">
            <a:avLst>
              <a:gd name="adj" fmla="val 7500"/>
            </a:avLst>
          </a:prstGeom>
          <a:solidFill>
            <a:srgbClr val="1E2D5B"/>
          </a:solidFill>
          <a:ln w="25400">
            <a:solidFill>
              <a:srgbClr val="4ADE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82112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255264" y="3218688"/>
            <a:ext cx="3922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 &amp; Perspectives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55264" y="3630168"/>
            <a:ext cx="3922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· Limites · Ouverture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Monolithique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en un seul bloc — le point de départ historique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47472" y="1207008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FFF4F4"/>
          </a:solidFill>
          <a:ln w="12700">
            <a:solidFill>
              <a:srgbClr val="E5737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98448"/>
            <a:ext cx="3255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Monolithique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2889504" cy="530352"/>
          </a:xfrm>
          <a:prstGeom prst="roundRect">
            <a:avLst>
              <a:gd name="adj" fmla="val 12069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2889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Interface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395728"/>
            <a:ext cx="2889504" cy="530352"/>
          </a:xfrm>
          <a:prstGeom prst="roundRect">
            <a:avLst>
              <a:gd name="adj" fmla="val 12069"/>
            </a:avLst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95728"/>
            <a:ext cx="2889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Métier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054096"/>
            <a:ext cx="2889504" cy="530352"/>
          </a:xfrm>
          <a:prstGeom prst="roundRect">
            <a:avLst>
              <a:gd name="adj" fmla="val 12069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54096"/>
            <a:ext cx="2889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aux Données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712464"/>
            <a:ext cx="2889504" cy="530352"/>
          </a:xfrm>
          <a:prstGeom prst="roundRect">
            <a:avLst>
              <a:gd name="adj" fmla="val 12069"/>
            </a:avLst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12464"/>
            <a:ext cx="2889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4343400"/>
            <a:ext cx="3163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unique (un seul exécutable)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023360" y="1207008"/>
            <a:ext cx="4754880" cy="1664208"/>
          </a:xfrm>
          <a:prstGeom prst="roundRect">
            <a:avLst>
              <a:gd name="adj" fmla="val 6593"/>
            </a:avLst>
          </a:prstGeom>
          <a:solidFill>
            <a:srgbClr val="F0FFF4"/>
          </a:solidFill>
          <a:ln w="12700">
            <a:solidFill>
              <a:srgbClr val="2287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325880"/>
            <a:ext cx="320040" cy="320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572000" y="1335024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8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Avantages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160520" y="1691640"/>
            <a:ext cx="44805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à développer et déployer initialement
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complexité réseau entre composants
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Idéal pour les petits projets ou MVP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023360" y="2980944"/>
            <a:ext cx="4754880" cy="1810512"/>
          </a:xfrm>
          <a:prstGeom prst="roundRect">
            <a:avLst>
              <a:gd name="adj" fmla="val 6061"/>
            </a:avLst>
          </a:prstGeom>
          <a:solidFill>
            <a:srgbClr val="FFF0F0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3099816"/>
            <a:ext cx="320040" cy="32004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572000" y="3108960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160520" y="3493008"/>
            <a:ext cx="448056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Couplage fort : une modification impacte tout
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Difficile à maintenir et faire évoluer
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Scalabilité limitée (tout doit monter ensemble)
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déploiement d'une fonction = redéploiement total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SOA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Service-Oriented Architecture — modularité et contrats de service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0" y="1261872"/>
            <a:ext cx="2743200" cy="594360"/>
          </a:xfrm>
          <a:prstGeom prst="roundRect">
            <a:avLst>
              <a:gd name="adj" fmla="val 18462"/>
            </a:avLst>
          </a:prstGeom>
          <a:solidFill>
            <a:srgbClr val="1B2B5E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0" y="126187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de Services / ESB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2286000"/>
            <a:ext cx="2560320" cy="530352"/>
          </a:xfrm>
          <a:prstGeom prst="roundRect">
            <a:avLst>
              <a:gd name="adj" fmla="val 15517"/>
            </a:avLst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228600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Auth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3383280"/>
            <a:ext cx="2560320" cy="530352"/>
          </a:xfrm>
          <a:prstGeom prst="roundRect">
            <a:avLst>
              <a:gd name="adj" fmla="val 15517"/>
            </a:avLst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338328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Livres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3291840"/>
            <a:ext cx="2560320" cy="530352"/>
          </a:xfrm>
          <a:prstGeom prst="roundRect">
            <a:avLst>
              <a:gd name="adj" fmla="val 15517"/>
            </a:avLst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329184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Emprunts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2286000"/>
            <a:ext cx="2560320" cy="530352"/>
          </a:xfrm>
          <a:prstGeom prst="roundRect">
            <a:avLst>
              <a:gd name="adj" fmla="val 15517"/>
            </a:avLst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228600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Dashboard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3383280"/>
            <a:ext cx="2560320" cy="530352"/>
          </a:xfrm>
          <a:prstGeom prst="roundRect">
            <a:avLst>
              <a:gd name="adj" fmla="val 15517"/>
            </a:avLst>
          </a:prstGeom>
          <a:solidFill>
            <a:srgbClr val="4A90D9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338328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Catégories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4005072"/>
            <a:ext cx="4160520" cy="484632"/>
          </a:xfrm>
          <a:prstGeom prst="roundRect">
            <a:avLst>
              <a:gd name="adj" fmla="val 22642"/>
            </a:avLst>
          </a:prstGeom>
          <a:solidFill>
            <a:srgbClr val="EEF3FB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405079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 de service — 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405079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 de service — Interface explicite (entrées/sorties) définie et stable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82312" y="4005072"/>
            <a:ext cx="4160520" cy="484632"/>
          </a:xfrm>
          <a:prstGeom prst="roundRect">
            <a:avLst>
              <a:gd name="adj" fmla="val 22642"/>
            </a:avLst>
          </a:prstGeom>
          <a:solidFill>
            <a:srgbClr val="EEF3FB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65192" y="405079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Couplage faible — 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65192" y="405079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Couplage faible — Les services communiquent sans dépendre de l'implémentation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4572000"/>
            <a:ext cx="4160520" cy="484632"/>
          </a:xfrm>
          <a:prstGeom prst="roundRect">
            <a:avLst>
              <a:gd name="adj" fmla="val 22642"/>
            </a:avLst>
          </a:prstGeom>
          <a:solidFill>
            <a:srgbClr val="EEF3FB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461772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Réutilisabilité — 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461772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Réutilisabilité — Un service peut être consommé par plusieurs clients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82312" y="4572000"/>
            <a:ext cx="4160520" cy="484632"/>
          </a:xfrm>
          <a:prstGeom prst="roundRect">
            <a:avLst>
              <a:gd name="adj" fmla="val 22642"/>
            </a:avLst>
          </a:prstGeom>
          <a:solidFill>
            <a:srgbClr val="EEF3FB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65192" y="461772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Interopérabilité — 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65192" y="461772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Interopérabilité — Communication via protocoles standards (HTTP/REST)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3977640"/>
            <a:ext cx="4160520" cy="457200"/>
          </a:xfrm>
          <a:prstGeom prst="roundRect">
            <a:avLst>
              <a:gd name="adj" fmla="val 24000"/>
            </a:avLst>
          </a:prstGeom>
          <a:solidFill>
            <a:srgbClr val="EEF3FB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5488" y="4014216"/>
            <a:ext cx="39136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 de service : </a:t>
            </a:r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explicite (entrées/sorties) définie et stable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73752" y="3977640"/>
            <a:ext cx="4160520" cy="457200"/>
          </a:xfrm>
          <a:prstGeom prst="roundRect">
            <a:avLst>
              <a:gd name="adj" fmla="val 24000"/>
            </a:avLst>
          </a:prstGeom>
          <a:solidFill>
            <a:srgbClr val="EEF3FB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983480" y="4014216"/>
            <a:ext cx="39136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Couplage faible : </a:t>
            </a:r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services communiquent sans dépendre de l'implémentation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507992"/>
            <a:ext cx="4160520" cy="457200"/>
          </a:xfrm>
          <a:prstGeom prst="roundRect">
            <a:avLst>
              <a:gd name="adj" fmla="val 24000"/>
            </a:avLst>
          </a:prstGeom>
          <a:solidFill>
            <a:srgbClr val="EEF3FB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75488" y="4544568"/>
            <a:ext cx="39136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Réutilisabilité : </a:t>
            </a:r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service peut être consommé par plusieurs clients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73752" y="4507992"/>
            <a:ext cx="4160520" cy="457200"/>
          </a:xfrm>
          <a:prstGeom prst="roundRect">
            <a:avLst>
              <a:gd name="adj" fmla="val 24000"/>
            </a:avLst>
          </a:prstGeom>
          <a:solidFill>
            <a:srgbClr val="EEF3FB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983480" y="4544568"/>
            <a:ext cx="39136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Interopérabilité : </a:t>
            </a:r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via protocoles standards (HTTP/REST)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Microservices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Granularité maximale — services déployés indépendamment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801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2194560"/>
            <a:ext cx="91440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propre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148840" y="128016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2148840" y="12801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68880" y="2194560"/>
            <a:ext cx="91440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propre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931920" y="128016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3931920" y="12801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51960" y="2194560"/>
            <a:ext cx="91440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4251960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propre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715000" y="128016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715000" y="12801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35040" y="2194560"/>
            <a:ext cx="91440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0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propre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498080" y="128016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0" y="12801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818120" y="2194560"/>
            <a:ext cx="91440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7818120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propre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0" y="2743200"/>
            <a:ext cx="3657600" cy="502920"/>
          </a:xfrm>
          <a:prstGeom prst="roundRect">
            <a:avLst>
              <a:gd name="adj" fmla="val 18182"/>
            </a:avLst>
          </a:prstGeom>
          <a:solidFill>
            <a:srgbClr val="1B2B5E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0" y="2743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3401568"/>
            <a:ext cx="841248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service est déployé et scalé indépendamment
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service possède sa propre base de données
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via API HTTP ou messaging (Kafka, RabbitMQ)
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Équipes autonomes par service (DevOps avancé)
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Complexité d'orchestration et de monitoring élevée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Comparaison des Architectures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Monolithique · SOA · Microservices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8503920" cy="3749040"/>
        </p:xfrm>
        <a:graphic>
          <a:graphicData uri="http://schemas.openxmlformats.org/drawingml/2006/table">
            <a:tbl>
              <a:tblPr/>
              <a:tblGrid>
                <a:gridCol w="1737360"/>
                <a:gridCol w="2011680"/>
                <a:gridCol w="2331720"/>
                <a:gridCol w="2423160"/>
              </a:tblGrid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Critère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Monolithique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SOA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Microservices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 unique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Services métier partagés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Services ultra-granulaires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Couplage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Modéré (contrats)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Très faible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Déploiement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Tout en même temps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 service/groupe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Indépendant par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de données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partagée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Partagée ou dédiée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 par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Tout ou rien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 service métier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Granulaire et autonome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 au départ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Modérée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Réutilisabilité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 (par API)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 d'usage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Petits projets / MVP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d'entreprise modulaire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Systèmes massifs (Netflix)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SOA pour Notre Projet 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compromis mature entre simplicité et modularité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47472" y="1234440"/>
            <a:ext cx="4160520" cy="1719072"/>
          </a:xfrm>
          <a:prstGeom prst="roundRect">
            <a:avLst>
              <a:gd name="adj" fmla="val 6383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87552" y="14356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 Métier Distincts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" y="1892808"/>
            <a:ext cx="3886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domaine fonctionnel (Auth, Livres, Emprunts, Dashboard) est encapsulé dans un service indépendant avec des responsabilités claires.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9744" y="1234440"/>
            <a:ext cx="4160520" cy="1719072"/>
          </a:xfrm>
          <a:prstGeom prst="roundRect">
            <a:avLst>
              <a:gd name="adj" fmla="val 6383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49824" y="14356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comme Point d'Entrée Unique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46904" y="1892808"/>
            <a:ext cx="3886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frontend consomme uniquement l'API REST. Il ne connaît pas l'implémentation interne — c'est le contrat de service SOA.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3108960"/>
            <a:ext cx="4160520" cy="1719072"/>
          </a:xfrm>
          <a:prstGeom prst="roundRect">
            <a:avLst>
              <a:gd name="adj" fmla="val 6383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87552" y="33101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Séparation des Responsabilités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" y="3767328"/>
            <a:ext cx="3886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→ Service → Repository : chaque couche a un rôle précis. Modifier la BDD n'impacte pas le controller.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09744" y="3108960"/>
            <a:ext cx="4160520" cy="1719072"/>
          </a:xfrm>
          <a:prstGeom prst="roundRect">
            <a:avLst>
              <a:gd name="adj" fmla="val 6383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49824" y="33101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Réutilisabilité &amp; Évolution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46904" y="3767328"/>
            <a:ext cx="3886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Service Auth peut demain protéger d'autres applications. Les services peuvent évoluer sans tout redéployer.</a:t>
            </a:r>
            <a:endParaRPr lang="en-US" sz="105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417320"/>
            <a:ext cx="365760" cy="365760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624" y="1417320"/>
            <a:ext cx="365760" cy="365760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291840"/>
            <a:ext cx="365760" cy="365760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4" y="329184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Partie B — Présentation du Projet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 Gestion de Bibliothèque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2377440" cy="1325880"/>
          </a:xfrm>
          <a:prstGeom prst="roundRect">
            <a:avLst>
              <a:gd name="adj" fmla="val 8276"/>
            </a:avLst>
          </a:prstGeom>
          <a:solidFill>
            <a:srgbClr val="1E2D5B"/>
          </a:solidFill>
          <a:ln w="19050">
            <a:solidFill>
              <a:srgbClr val="4A90D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856232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4048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Livres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46120" y="1691640"/>
            <a:ext cx="2377440" cy="1325880"/>
          </a:xfrm>
          <a:prstGeom prst="roundRect">
            <a:avLst>
              <a:gd name="adj" fmla="val 8276"/>
            </a:avLst>
          </a:prstGeom>
          <a:solidFill>
            <a:srgbClr val="1E2D5B"/>
          </a:solidFill>
          <a:ln w="19050">
            <a:solidFill>
              <a:srgbClr val="0D9B8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856232"/>
            <a:ext cx="438912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46120" y="24048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Catégories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989320" y="1691640"/>
            <a:ext cx="2377440" cy="1325880"/>
          </a:xfrm>
          <a:prstGeom prst="roundRect">
            <a:avLst>
              <a:gd name="adj" fmla="val 8276"/>
            </a:avLst>
          </a:prstGeom>
          <a:solidFill>
            <a:srgbClr val="1E2D5B"/>
          </a:solidFill>
          <a:ln w="19050">
            <a:solidFill>
              <a:srgbClr val="F0A50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856232"/>
            <a:ext cx="438912" cy="4389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989320" y="24048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JWT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502920" y="3246120"/>
            <a:ext cx="2377440" cy="1325880"/>
          </a:xfrm>
          <a:prstGeom prst="roundRect">
            <a:avLst>
              <a:gd name="adj" fmla="val 8276"/>
            </a:avLst>
          </a:prstGeom>
          <a:solidFill>
            <a:srgbClr val="1E2D5B"/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3410712"/>
            <a:ext cx="438912" cy="43891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02920" y="395935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Emprunts &amp; Retours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3246120" y="3246120"/>
            <a:ext cx="2377440" cy="1325880"/>
          </a:xfrm>
          <a:prstGeom prst="roundRect">
            <a:avLst>
              <a:gd name="adj" fmla="val 8276"/>
            </a:avLst>
          </a:prstGeom>
          <a:solidFill>
            <a:srgbClr val="1E2D5B"/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3410712"/>
            <a:ext cx="438912" cy="43891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246120" y="395935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Stats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5989320" y="3246120"/>
            <a:ext cx="2377440" cy="1325880"/>
          </a:xfrm>
          <a:prstGeom prst="roundRect">
            <a:avLst>
              <a:gd name="adj" fmla="val 8276"/>
            </a:avLst>
          </a:prstGeom>
          <a:solidFill>
            <a:srgbClr val="1E2D5B"/>
          </a:solidFill>
          <a:ln w="19050">
            <a:solidFill>
              <a:srgbClr val="F87171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0" y="3410712"/>
            <a:ext cx="438912" cy="43891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989320" y="395935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Rôles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Acteurs &amp; Cas d'Utilisation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rôles distincts — des droits clairement délimités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3931920" cy="3657600"/>
          </a:xfrm>
          <a:prstGeom prst="roundRect">
            <a:avLst>
              <a:gd name="adj" fmla="val 3000"/>
            </a:avLst>
          </a:prstGeom>
          <a:solidFill>
            <a:srgbClr val="F0F4FF"/>
          </a:solidFill>
          <a:ln w="12700">
            <a:solidFill>
              <a:srgbClr val="2D5FA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9928" y="1325880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8836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Administrateur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2304288"/>
            <a:ext cx="3566160" cy="2450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/ Modifier / Supprimer un livre
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catégories
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les statistiques globales
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Visualiser et traiter les retours
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Superviser l'ensemble du catalogue
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Ne peut PAS emprunter un livre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207008"/>
            <a:ext cx="3931920" cy="3657600"/>
          </a:xfrm>
          <a:prstGeom prst="roundRect">
            <a:avLst>
              <a:gd name="adj" fmla="val 3000"/>
            </a:avLst>
          </a:prstGeom>
          <a:solidFill>
            <a:srgbClr val="F0FFF4"/>
          </a:solidFill>
          <a:ln w="12700">
            <a:solidFill>
              <a:srgbClr val="2287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1325880"/>
            <a:ext cx="493776" cy="4937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00600" y="18836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8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Membre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846320" y="2304288"/>
            <a:ext cx="3566160" cy="2450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connecter au système
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le catalogue de livres
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Emprunter un livre disponible
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Retourner ses propres emprunts uniquement
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ses statistiques et son historique
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Ne peut pas gérer le catalogue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Règles Métier Essentielles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contraintes qui gouvernent le comportement du système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47472" y="1207008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F8FA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207008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207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128016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≠ Emprunteur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1801368"/>
            <a:ext cx="3931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L'administrateur est un gestionnaire, pas un utilisateur de la bibliothèque. Il lui est techniquement impossible d'emprunter un livre — ni via l'interface, ni via l'API.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82312" y="1207008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F8FA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82312" y="1207008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D5FA8"/>
          </a:solidFill>
          <a:ln/>
        </p:spPr>
      </p:sp>
      <p:sp>
        <p:nvSpPr>
          <p:cNvPr id="12" name="Text 10"/>
          <p:cNvSpPr/>
          <p:nvPr/>
        </p:nvSpPr>
        <p:spPr>
          <a:xfrm>
            <a:off x="4782312" y="1207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22392" y="128016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Retour = Emprunt Personnel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92040" y="1801368"/>
            <a:ext cx="3931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membre ne peut retourner que ses propres emprunts. Cette règle est vérifiée côté backend pour éviter toute manipulation via l'API.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" y="3054096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F8FA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7472" y="3054096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0540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87552" y="312724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Livre Indisponible = Non Empruntable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3648456"/>
            <a:ext cx="3931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livre est déjà emprunté, le système bloque l'action. Le statut de disponibilité est maintenu en temps réel dans la base de données.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82312" y="3054096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F8FA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82312" y="3054096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D9B8A"/>
          </a:solidFill>
          <a:ln/>
        </p:spPr>
      </p:sp>
      <p:sp>
        <p:nvSpPr>
          <p:cNvPr id="22" name="Text 20"/>
          <p:cNvSpPr/>
          <p:nvPr/>
        </p:nvSpPr>
        <p:spPr>
          <a:xfrm>
            <a:off x="4782312" y="30540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22392" y="312724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Cohérence Frontend / Backend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892040" y="3648456"/>
            <a:ext cx="3931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règle métier est vérifiée des deux côtés : l'interface masque les boutons non autorisés, et le backend rejette les requêtes non conformes.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Vue d'Ensemble de l'Architecture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API REST · Services · Base de Données · Docker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8503920" cy="594360"/>
          </a:xfrm>
          <a:prstGeom prst="roundRect">
            <a:avLst>
              <a:gd name="adj" fmla="val 12308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20700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(HTML / CSS / JS)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801368"/>
            <a:ext cx="457200" cy="109728"/>
          </a:xfrm>
          <a:prstGeom prst="rect">
            <a:avLst/>
          </a:prstGeom>
          <a:solidFill>
            <a:srgbClr val="6B7A99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1920240"/>
            <a:ext cx="8503920" cy="594360"/>
          </a:xfrm>
          <a:prstGeom prst="roundRect">
            <a:avLst>
              <a:gd name="adj" fmla="val 12308"/>
            </a:avLst>
          </a:prstGeom>
          <a:solidFill>
            <a:srgbClr val="1B2B5E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9202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 HTTP  |  JWT Auth  |  CORS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2514600"/>
            <a:ext cx="457200" cy="109728"/>
          </a:xfrm>
          <a:prstGeom prst="rect">
            <a:avLst/>
          </a:prstGeom>
          <a:solidFill>
            <a:srgbClr val="6B7A9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2633472"/>
            <a:ext cx="8503920" cy="594360"/>
          </a:xfrm>
          <a:prstGeom prst="roundRect">
            <a:avLst>
              <a:gd name="adj" fmla="val 12308"/>
            </a:avLst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263347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 →  Services  →  Repositories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43400" y="3227832"/>
            <a:ext cx="457200" cy="109728"/>
          </a:xfrm>
          <a:prstGeom prst="rect">
            <a:avLst/>
          </a:prstGeom>
          <a:solidFill>
            <a:srgbClr val="6B7A99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" y="3346704"/>
            <a:ext cx="8503920" cy="594360"/>
          </a:xfrm>
          <a:prstGeom prst="roundRect">
            <a:avLst>
              <a:gd name="adj" fmla="val 12308"/>
            </a:avLst>
          </a:prstGeom>
          <a:solidFill>
            <a:srgbClr val="0D9B8A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3346704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 Database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43400" y="3941064"/>
            <a:ext cx="457200" cy="109728"/>
          </a:xfrm>
          <a:prstGeom prst="rect">
            <a:avLst/>
          </a:prstGeom>
          <a:solidFill>
            <a:srgbClr val="6B7A99"/>
          </a:solidFill>
          <a:ln/>
        </p:spPr>
      </p:sp>
      <p:sp>
        <p:nvSpPr>
          <p:cNvPr id="17" name="Shape 15"/>
          <p:cNvSpPr/>
          <p:nvPr/>
        </p:nvSpPr>
        <p:spPr>
          <a:xfrm>
            <a:off x="320040" y="4059936"/>
            <a:ext cx="8503920" cy="594360"/>
          </a:xfrm>
          <a:prstGeom prst="roundRect">
            <a:avLst>
              <a:gd name="adj" fmla="val 12308"/>
            </a:avLst>
          </a:prstGeom>
          <a:solidFill>
            <a:srgbClr val="374151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4059936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 (conteneurisation de l'environnement)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0" y="1261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localhost:8083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83680" y="1975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localhost:8000/api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Description des Services Métier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 services — cinq domaines fonctionnels distincts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2670048" cy="1627632"/>
          </a:xfrm>
          <a:prstGeom prst="roundRect">
            <a:avLst>
              <a:gd name="adj" fmla="val 6742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5331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353312"/>
            <a:ext cx="1984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Auth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29768" y="1755648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Gère l'authentification et l'émission des tokens JWT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29768" y="2249424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5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/api/login · /api/register · /api/me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172968" y="1207008"/>
            <a:ext cx="2670048" cy="1627632"/>
          </a:xfrm>
          <a:prstGeom prst="roundRect">
            <a:avLst>
              <a:gd name="adj" fmla="val 6742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135331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21608" y="1353312"/>
            <a:ext cx="1984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Livres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3282696" y="1755648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 du catalogue — réservé admin pour écriture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282696" y="2249424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5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/api/books  (GET/POST/PUT/DELETE)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025896" y="1207008"/>
            <a:ext cx="2670048" cy="1627632"/>
          </a:xfrm>
          <a:prstGeom prst="roundRect">
            <a:avLst>
              <a:gd name="adj" fmla="val 6742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056" y="1353312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74536" y="1353312"/>
            <a:ext cx="1984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Catégories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6135624" y="1755648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catégories de classification des livres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6135624" y="2249424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5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/api/categories (GET/POST/PUT/DELETE)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320040" y="3072384"/>
            <a:ext cx="4005072" cy="1627632"/>
          </a:xfrm>
          <a:prstGeom prst="roundRect">
            <a:avLst>
              <a:gd name="adj" fmla="val 6742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18688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8680" y="3218688"/>
            <a:ext cx="3319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Emprunts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29768" y="3621024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Emprunt, retour, liste — avec contrôle de rôle et règles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29768" y="4114800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5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/api/loans  (POST borrow · PUT return)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3172968" y="3072384"/>
            <a:ext cx="4005072" cy="1627632"/>
          </a:xfrm>
          <a:prstGeom prst="roundRect">
            <a:avLst>
              <a:gd name="adj" fmla="val 6742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218688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721608" y="3218688"/>
            <a:ext cx="3319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Dashboard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3282696" y="3621024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Agrège les statistiques globales pour l'administrateur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3282696" y="4114800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5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/api/dashboard/stats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Backend en Couches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→ Controllers → Services → Repositories → BDD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1828800" cy="530352"/>
          </a:xfrm>
          <a:prstGeom prst="roundRect">
            <a:avLst>
              <a:gd name="adj" fmla="val 12069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20700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22529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D5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routes/api.php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286000" y="1463040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 les URL et associe chaque route à un controller. Applique les middlewares (auth, rôle).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837944"/>
            <a:ext cx="1828800" cy="530352"/>
          </a:xfrm>
          <a:prstGeom prst="roundRect">
            <a:avLst>
              <a:gd name="adj" fmla="val 12069"/>
            </a:avLst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83794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0" y="18562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D5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AuthMiddleware, RoleMiddleware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286000" y="2093976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 le token JWT, valide le rôle, rejette les requêtes non autorisées avant le controller.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468880"/>
            <a:ext cx="1828800" cy="530352"/>
          </a:xfrm>
          <a:prstGeom prst="roundRect">
            <a:avLst>
              <a:gd name="adj" fmla="val 12069"/>
            </a:avLst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246888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248716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D5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BookController, LoanController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286000" y="2724912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Reçoit la requête HTTP, valide les données, délègue la logique au service, retourne la réponse JSON.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099816"/>
            <a:ext cx="1828800" cy="530352"/>
          </a:xfrm>
          <a:prstGeom prst="roundRect">
            <a:avLst>
              <a:gd name="adj" fmla="val 12069"/>
            </a:avLst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309981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86000" y="311810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D5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LoanService, DashboardService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0" y="3355848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Contient la logique métier pure : règles, validations, orchestration des appels aux repositories.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730752"/>
            <a:ext cx="1828800" cy="530352"/>
          </a:xfrm>
          <a:prstGeom prst="roundRect">
            <a:avLst>
              <a:gd name="adj" fmla="val 12069"/>
            </a:avLst>
          </a:prstGeom>
          <a:solidFill>
            <a:srgbClr val="0D9B8A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373075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286000" y="37490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D5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BookRepository, LoanRepository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286000" y="3986784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 couche qui accède à la BDD. Abstrait les requêtes SQL — les services ne font jamais de SQL.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4361688"/>
            <a:ext cx="1828800" cy="530352"/>
          </a:xfrm>
          <a:prstGeom prst="roundRect">
            <a:avLst>
              <a:gd name="adj" fmla="val 12069"/>
            </a:avLst>
          </a:prstGeom>
          <a:solidFill>
            <a:srgbClr val="22875A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436168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MySQL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86000" y="437997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D5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books, loans, users, categories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286000" y="4617720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persistant. Structure normalisée avec relations entre entités.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Cycle d'une Requête : Emprunter un Livre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Tracé complet du flux Frontend → Base de Données → Réponse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47472" y="1234440"/>
            <a:ext cx="1298448" cy="2651760"/>
          </a:xfrm>
          <a:prstGeom prst="roundRect">
            <a:avLst>
              <a:gd name="adj" fmla="val 8451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29844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0624" y="1920240"/>
            <a:ext cx="1161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02336" y="2304288"/>
            <a:ext cx="1188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POST /api/loans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Headers: Bearer {JWT}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45920" y="1682496"/>
            <a:ext cx="137160" cy="20116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1" name="Shape 9"/>
          <p:cNvSpPr/>
          <p:nvPr/>
        </p:nvSpPr>
        <p:spPr>
          <a:xfrm>
            <a:off x="1783080" y="1234440"/>
            <a:ext cx="1298448" cy="2651760"/>
          </a:xfrm>
          <a:prstGeom prst="roundRect">
            <a:avLst>
              <a:gd name="adj" fmla="val 8451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67128" y="129844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2167128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856232" y="1920240"/>
            <a:ext cx="1161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Middleware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837944" y="2304288"/>
            <a:ext cx="1188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 le JWT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 rôle = membre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81528" y="1682496"/>
            <a:ext cx="137160" cy="20116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7" name="Shape 15"/>
          <p:cNvSpPr/>
          <p:nvPr/>
        </p:nvSpPr>
        <p:spPr>
          <a:xfrm>
            <a:off x="3218688" y="1234440"/>
            <a:ext cx="1298448" cy="2651760"/>
          </a:xfrm>
          <a:prstGeom prst="roundRect">
            <a:avLst>
              <a:gd name="adj" fmla="val 8451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02736" y="129844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3602736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291840" y="1920240"/>
            <a:ext cx="1161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73552" y="2304288"/>
            <a:ext cx="1188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LoanController::borrow()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book_id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17136" y="1682496"/>
            <a:ext cx="137160" cy="20116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3" name="Shape 21"/>
          <p:cNvSpPr/>
          <p:nvPr/>
        </p:nvSpPr>
        <p:spPr>
          <a:xfrm>
            <a:off x="4654296" y="1234440"/>
            <a:ext cx="1298448" cy="2651760"/>
          </a:xfrm>
          <a:prstGeom prst="roundRect">
            <a:avLst>
              <a:gd name="adj" fmla="val 8451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38344" y="129844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5038344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727448" y="1920240"/>
            <a:ext cx="1161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09160" y="2304288"/>
            <a:ext cx="1188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LoanService::borrow()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 disponibilité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52744" y="1682496"/>
            <a:ext cx="137160" cy="20116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9" name="Shape 27"/>
          <p:cNvSpPr/>
          <p:nvPr/>
        </p:nvSpPr>
        <p:spPr>
          <a:xfrm>
            <a:off x="6089904" y="1234440"/>
            <a:ext cx="1298448" cy="2651760"/>
          </a:xfrm>
          <a:prstGeom prst="roundRect">
            <a:avLst>
              <a:gd name="adj" fmla="val 8451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73952" y="129844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D9B8A"/>
          </a:solidFill>
          <a:ln/>
        </p:spPr>
      </p:sp>
      <p:sp>
        <p:nvSpPr>
          <p:cNvPr id="31" name="Text 29"/>
          <p:cNvSpPr/>
          <p:nvPr/>
        </p:nvSpPr>
        <p:spPr>
          <a:xfrm>
            <a:off x="6473952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163056" y="1920240"/>
            <a:ext cx="1161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44768" y="2304288"/>
            <a:ext cx="1188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LoanRepository::create()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 loans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388352" y="1682496"/>
            <a:ext cx="137160" cy="20116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5" name="Shape 33"/>
          <p:cNvSpPr/>
          <p:nvPr/>
        </p:nvSpPr>
        <p:spPr>
          <a:xfrm>
            <a:off x="7525512" y="1234440"/>
            <a:ext cx="1298448" cy="2651760"/>
          </a:xfrm>
          <a:prstGeom prst="roundRect">
            <a:avLst>
              <a:gd name="adj" fmla="val 8451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909560" y="129844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2875A"/>
          </a:solidFill>
          <a:ln/>
        </p:spPr>
      </p:sp>
      <p:sp>
        <p:nvSpPr>
          <p:cNvPr id="37" name="Text 35"/>
          <p:cNvSpPr/>
          <p:nvPr/>
        </p:nvSpPr>
        <p:spPr>
          <a:xfrm>
            <a:off x="7909560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598664" y="1920240"/>
            <a:ext cx="1161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Réponse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580376" y="2304288"/>
            <a:ext cx="1188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{success, loan}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au Frontend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040" y="4023360"/>
            <a:ext cx="8503920" cy="896112"/>
          </a:xfrm>
          <a:prstGeom prst="roundRect">
            <a:avLst>
              <a:gd name="adj" fmla="val 12245"/>
            </a:avLst>
          </a:prstGeom>
          <a:solidFill>
            <a:srgbClr val="FFF7E6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02920" y="40965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 Règle Métier Critique : 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2606040" y="4096512"/>
            <a:ext cx="6080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l'utilisateur est Admin → le LoanService rejette la requête avec HTTP 403 (Forbidden) avant même d'accéder à la BDD.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Sécurité &amp; Contrôle d'Accès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· Middleware · Double vérification Frontend / Backend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8503920" cy="1508760"/>
          </a:xfrm>
          <a:prstGeom prst="roundRect">
            <a:avLst>
              <a:gd name="adj" fmla="val 7273"/>
            </a:avLst>
          </a:prstGeom>
          <a:solidFill>
            <a:srgbClr val="F0F4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 d'Authentification JWT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627632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62763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(email+mdp)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1664208" y="1810512"/>
            <a:ext cx="137160" cy="10972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0" name="Shape 8"/>
          <p:cNvSpPr/>
          <p:nvPr/>
        </p:nvSpPr>
        <p:spPr>
          <a:xfrm>
            <a:off x="1801368" y="1627632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1801368" y="162763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BDD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3081528" y="1810512"/>
            <a:ext cx="137160" cy="10972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3" name="Shape 11"/>
          <p:cNvSpPr/>
          <p:nvPr/>
        </p:nvSpPr>
        <p:spPr>
          <a:xfrm>
            <a:off x="3218688" y="1627632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0D9B8A"/>
          </a:solidFill>
          <a:ln/>
        </p:spPr>
      </p:sp>
      <p:sp>
        <p:nvSpPr>
          <p:cNvPr id="14" name="Text 12"/>
          <p:cNvSpPr/>
          <p:nvPr/>
        </p:nvSpPr>
        <p:spPr>
          <a:xfrm>
            <a:off x="3218688" y="162763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JWT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498848" y="1810512"/>
            <a:ext cx="137160" cy="10972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6" name="Shape 14"/>
          <p:cNvSpPr/>
          <p:nvPr/>
        </p:nvSpPr>
        <p:spPr>
          <a:xfrm>
            <a:off x="4636008" y="1627632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636008" y="162763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côté client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5916168" y="1810512"/>
            <a:ext cx="137160" cy="10972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9" name="Shape 17"/>
          <p:cNvSpPr/>
          <p:nvPr/>
        </p:nvSpPr>
        <p:spPr>
          <a:xfrm>
            <a:off x="6053328" y="1627632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6053328" y="162763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 Bearer Token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7333488" y="1810512"/>
            <a:ext cx="137160" cy="10972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2" name="Shape 20"/>
          <p:cNvSpPr/>
          <p:nvPr/>
        </p:nvSpPr>
        <p:spPr>
          <a:xfrm>
            <a:off x="7470648" y="1627632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22875A"/>
          </a:solidFill>
          <a:ln/>
        </p:spPr>
      </p:sp>
      <p:sp>
        <p:nvSpPr>
          <p:cNvPr id="23" name="Text 21"/>
          <p:cNvSpPr/>
          <p:nvPr/>
        </p:nvSpPr>
        <p:spPr>
          <a:xfrm>
            <a:off x="7470648" y="162763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Middleware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365760" y="28346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Matrice des Permissions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218688"/>
          <a:ext cx="5120640" cy="173736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</a:tblGrid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Admin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Membre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Consulter catalogue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Ajouter un livre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Emprunter un livre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Retourner (le sien)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Traiter un retour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Voir dashboard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Partiel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5669280" y="2834640"/>
            <a:ext cx="3154680" cy="219456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2907792"/>
            <a:ext cx="347472" cy="34747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806440" y="331012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 Vérification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5806440" y="3721608"/>
            <a:ext cx="28803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: masque les éléments UI non autorisés
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: rejette toute requête non conforme
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niveaux sont indispensables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 de Données (MCD Simplifié)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Entités · Attributs · Relations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47472" y="1234440"/>
            <a:ext cx="2514600" cy="420624"/>
          </a:xfrm>
          <a:prstGeom prst="roundRect">
            <a:avLst>
              <a:gd name="adj" fmla="val 13043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123444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" y="1655064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8912" y="169164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(PK)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38912" y="203911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238658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8912" y="273405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8912" y="308152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54680" y="1234440"/>
            <a:ext cx="2514600" cy="420624"/>
          </a:xfrm>
          <a:prstGeom prst="roundRect">
            <a:avLst>
              <a:gd name="adj" fmla="val 13043"/>
            </a:avLst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3154680" y="123444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154680" y="1655064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46120" y="169164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(PK)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46120" y="203911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46120" y="238658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46120" y="273405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category_id (FK)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46120" y="308152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available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26480" y="1234440"/>
            <a:ext cx="2514600" cy="420624"/>
          </a:xfrm>
          <a:prstGeom prst="roundRect">
            <a:avLst>
              <a:gd name="adj" fmla="val 13043"/>
            </a:avLst>
          </a:prstGeom>
          <a:solidFill>
            <a:srgbClr val="0D9B8A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123444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26480" y="1655064"/>
            <a:ext cx="2514600" cy="694944"/>
          </a:xfrm>
          <a:prstGeom prst="roundRect">
            <a:avLst>
              <a:gd name="adj" fmla="val 15789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17920" y="169164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(PK)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17920" y="203911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645920" y="3383280"/>
            <a:ext cx="2514600" cy="420624"/>
          </a:xfrm>
          <a:prstGeom prst="roundRect">
            <a:avLst>
              <a:gd name="adj" fmla="val 13043"/>
            </a:avLst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1645920" y="338328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645920" y="3803904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737360" y="384048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(PK)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737360" y="418795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 (FK)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737360" y="453542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book_id (FK)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737360" y="488289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borrowed_at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737360" y="523036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returned_at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 : </a:t>
            </a:r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books.category_id → categories.id  |  loans.user_id → users.id  |  loans.book_id → books.id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REST — Endpoints Principaux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· URL · Rôle · Protection JWT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07008"/>
          <a:ext cx="8503920" cy="3794760"/>
        </p:xfrm>
        <a:graphic>
          <a:graphicData uri="http://schemas.openxmlformats.org/drawingml/2006/table">
            <a:tbl>
              <a:tblPr/>
              <a:tblGrid>
                <a:gridCol w="1051560"/>
                <a:gridCol w="2423160"/>
                <a:gridCol w="2880360"/>
                <a:gridCol w="2148840"/>
              </a:tblGrid>
              <a:tr h="291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Méthode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URL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Rôle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Auth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</a:tr>
              <a:tr h="291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875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/api/login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Connexion utilisateur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87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1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875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/api/register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87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291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D5F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/api/me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 utilisateur courant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1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D5F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/api/books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Lister le catalogue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291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875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/api/books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Ajouter un livre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1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85A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/api/books/{id}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Modifier un livre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291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/api/books/{id}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Supprimer un livre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1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D5F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/api/categories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Lister les catégories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291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875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/api/loans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Emprunter un livre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1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85A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/api/loans/{id}/return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Retourner un emprunt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+ Règle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291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D5F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/api/loans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Lister les emprunts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1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D5F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/api/dashboard/stats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Statistiques globales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Parcours Utilisateur : Membre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connexion à l'emprunt et au retour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47472" y="1261872"/>
            <a:ext cx="2633472" cy="1737360"/>
          </a:xfrm>
          <a:prstGeom prst="roundRect">
            <a:avLst>
              <a:gd name="adj" fmla="val 6316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99032" y="13716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1399032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8912" y="2011680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Connexion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2359152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email + mdp → JWT reçu et stocké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261872"/>
            <a:ext cx="2633472" cy="1737360"/>
          </a:xfrm>
          <a:prstGeom prst="roundRect">
            <a:avLst>
              <a:gd name="adj" fmla="val 6316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51960" y="13716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425196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91840" y="2011680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2359152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des livres disponibles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53328" y="1261872"/>
            <a:ext cx="2633472" cy="1737360"/>
          </a:xfrm>
          <a:prstGeom prst="roundRect">
            <a:avLst>
              <a:gd name="adj" fmla="val 6316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04888" y="13716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104888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44768" y="2011680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Emprunt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44768" y="2359152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'Emprunter' → POST /api/loans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" y="3227832"/>
            <a:ext cx="2633472" cy="1737360"/>
          </a:xfrm>
          <a:prstGeom prst="roundRect">
            <a:avLst>
              <a:gd name="adj" fmla="val 6316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399032" y="33375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D9B8A"/>
          </a:solidFill>
          <a:ln/>
        </p:spPr>
      </p:sp>
      <p:sp>
        <p:nvSpPr>
          <p:cNvPr id="22" name="Text 20"/>
          <p:cNvSpPr/>
          <p:nvPr/>
        </p:nvSpPr>
        <p:spPr>
          <a:xfrm>
            <a:off x="1399032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38912" y="3977640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8912" y="4325112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 marqué indisponible en BDD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3227832"/>
            <a:ext cx="2633472" cy="1737360"/>
          </a:xfrm>
          <a:prstGeom prst="roundRect">
            <a:avLst>
              <a:gd name="adj" fmla="val 6316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51960" y="33375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A78BFA"/>
          </a:solidFill>
          <a:ln/>
        </p:spPr>
      </p:sp>
      <p:sp>
        <p:nvSpPr>
          <p:cNvPr id="27" name="Text 25"/>
          <p:cNvSpPr/>
          <p:nvPr/>
        </p:nvSpPr>
        <p:spPr>
          <a:xfrm>
            <a:off x="425196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291840" y="3977640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 Emprunts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91840" y="4325112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 ses emprunts actifs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53328" y="3227832"/>
            <a:ext cx="2633472" cy="1737360"/>
          </a:xfrm>
          <a:prstGeom prst="roundRect">
            <a:avLst>
              <a:gd name="adj" fmla="val 6316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104888" y="33375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2875A"/>
          </a:solidFill>
          <a:ln/>
        </p:spPr>
      </p:sp>
      <p:sp>
        <p:nvSpPr>
          <p:cNvPr id="32" name="Text 30"/>
          <p:cNvSpPr/>
          <p:nvPr/>
        </p:nvSpPr>
        <p:spPr>
          <a:xfrm>
            <a:off x="7104888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144768" y="3977640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Retour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44768" y="4325112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'Retourner' → PUT /api/loans/{id}/return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Parcours Utilisateur : Administrateur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complète — sans droit d'emprunt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47472" y="1261872"/>
            <a:ext cx="2633472" cy="1737360"/>
          </a:xfrm>
          <a:prstGeom prst="roundRect">
            <a:avLst>
              <a:gd name="adj" fmla="val 6316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99032" y="13716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D5FA8"/>
          </a:solidFill>
          <a:ln/>
        </p:spPr>
      </p:sp>
      <p:sp>
        <p:nvSpPr>
          <p:cNvPr id="7" name="Text 5"/>
          <p:cNvSpPr/>
          <p:nvPr/>
        </p:nvSpPr>
        <p:spPr>
          <a:xfrm>
            <a:off x="1399032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8912" y="2011680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Connexion Admin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2359152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→ rôle 'admin' détecté dans le JWT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261872"/>
            <a:ext cx="2633472" cy="1737360"/>
          </a:xfrm>
          <a:prstGeom prst="roundRect">
            <a:avLst>
              <a:gd name="adj" fmla="val 6316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51960" y="13716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D9B8A"/>
          </a:solidFill>
          <a:ln/>
        </p:spPr>
      </p:sp>
      <p:sp>
        <p:nvSpPr>
          <p:cNvPr id="12" name="Text 10"/>
          <p:cNvSpPr/>
          <p:nvPr/>
        </p:nvSpPr>
        <p:spPr>
          <a:xfrm>
            <a:off x="425196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91840" y="2011680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2359152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des statistiques globales : livres, emprunts, membres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53328" y="1261872"/>
            <a:ext cx="2633472" cy="1737360"/>
          </a:xfrm>
          <a:prstGeom prst="roundRect">
            <a:avLst>
              <a:gd name="adj" fmla="val 6316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04888" y="13716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7104888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44768" y="2011680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Catalogue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44768" y="2359152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/ Modifier / Supprimer des livres et catégories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" y="3227832"/>
            <a:ext cx="2633472" cy="1737360"/>
          </a:xfrm>
          <a:prstGeom prst="roundRect">
            <a:avLst>
              <a:gd name="adj" fmla="val 6316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399032" y="33375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1399032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38912" y="3977640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Suivi Emprunts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8912" y="4325112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 tous les emprunts actifs de tous les membres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3227832"/>
            <a:ext cx="2633472" cy="1737360"/>
          </a:xfrm>
          <a:prstGeom prst="roundRect">
            <a:avLst>
              <a:gd name="adj" fmla="val 6316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51960" y="33375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2875A"/>
          </a:solidFill>
          <a:ln/>
        </p:spPr>
      </p:sp>
      <p:sp>
        <p:nvSpPr>
          <p:cNvPr id="27" name="Text 25"/>
          <p:cNvSpPr/>
          <p:nvPr/>
        </p:nvSpPr>
        <p:spPr>
          <a:xfrm>
            <a:off x="425196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291840" y="3977640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Traitement Retour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91840" y="4325112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 un emprunt comme retourné → livre redevient dispo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53328" y="3227832"/>
            <a:ext cx="2633472" cy="1737360"/>
          </a:xfrm>
          <a:prstGeom prst="roundRect">
            <a:avLst>
              <a:gd name="adj" fmla="val 6316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104888" y="33375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/>
        </p:spPr>
      </p:sp>
      <p:sp>
        <p:nvSpPr>
          <p:cNvPr id="32" name="Text 30"/>
          <p:cNvSpPr/>
          <p:nvPr/>
        </p:nvSpPr>
        <p:spPr>
          <a:xfrm>
            <a:off x="7104888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144768" y="3977640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Restriction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44768" y="4325112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Le bouton 'Emprunter' n'apparaît jamais pour un admin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 — Pourquoi SOA et pas Monolithique 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Argumentaire technique solide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160520" cy="1755648"/>
          </a:xfrm>
          <a:prstGeom prst="roundRect">
            <a:avLst>
              <a:gd name="adj" fmla="val 6250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39903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 Indépendants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8056" y="1892808"/>
            <a:ext cx="39136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Auth, Books, Loans et Dashboard sont des composants distincts. Dans un monolithe, tout ce code serait entrelacé et impossible à isoler.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82312" y="1234440"/>
            <a:ext cx="4160520" cy="1755648"/>
          </a:xfrm>
          <a:prstGeom prst="roundRect">
            <a:avLst>
              <a:gd name="adj" fmla="val 6250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22392" y="139903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Contrat d'API Explicite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10328" y="1892808"/>
            <a:ext cx="39136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frontend ne 'voit' que l'API. Il ignore totalement si le backend est en PHP, Python ou autre. C'est le principe fondamental du contrat SOA.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3154680"/>
            <a:ext cx="4160520" cy="1755648"/>
          </a:xfrm>
          <a:prstGeom prst="roundRect">
            <a:avLst>
              <a:gd name="adj" fmla="val 6250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331927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Séparation Présentation / Logique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8056" y="3813048"/>
            <a:ext cx="39136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(8083) et Backend (8000) sont deux entités séparées. Dans un monolithe, le HTML serait généré côté serveur — sans cette séparation.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82312" y="3154680"/>
            <a:ext cx="4160520" cy="1755648"/>
          </a:xfrm>
          <a:prstGeom prst="roundRect">
            <a:avLst>
              <a:gd name="adj" fmla="val 6250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22392" y="331927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Évolutivité Indépendante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10328" y="3813048"/>
            <a:ext cx="39136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peut remplacer le Service Livres sans toucher à Auth ou Dashboard. Impossible dans un monolithe où tout est couplé.</a:t>
            </a:r>
            <a:endParaRPr lang="en-US" sz="105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399032"/>
            <a:ext cx="384048" cy="384048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904" y="1399032"/>
            <a:ext cx="384048" cy="384048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319272"/>
            <a:ext cx="384048" cy="384048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904" y="3319272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 — Pourquoi pas des Microservices Complets 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Honnêteté technique et maturité architecturale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8503920" cy="1207008"/>
          </a:xfrm>
          <a:prstGeom prst="roundRect">
            <a:avLst>
              <a:gd name="adj" fmla="val 9091"/>
            </a:avLst>
          </a:prstGeom>
          <a:solidFill>
            <a:srgbClr val="F0FFF4"/>
          </a:solidFill>
          <a:ln w="12700">
            <a:solidFill>
              <a:srgbClr val="2287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3258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8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nous avons bien des Microservices 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1700784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logiquement séparés · Interfaces API définies · Frontend découplé · Responsabilités distinctes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" y="2542032"/>
            <a:ext cx="8503920" cy="1481328"/>
          </a:xfrm>
          <a:prstGeom prst="roundRect">
            <a:avLst>
              <a:gd name="adj" fmla="val 7407"/>
            </a:avLst>
          </a:prstGeom>
          <a:solidFill>
            <a:srgbClr val="FFF0F0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517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265176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nous distingue des Microservices :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02920" y="3063240"/>
            <a:ext cx="81381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unique partagée (MySQL) — les microservices imposent une BDD par service
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déploiement indépendant par service (un seul conteneur Docker PHP)
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bus de messages (Kafka, RabbitMQ) — communication directe en mémoire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20040" y="4133088"/>
            <a:ext cx="8503920" cy="841248"/>
          </a:xfrm>
          <a:prstGeom prst="roundRect">
            <a:avLst>
              <a:gd name="adj" fmla="val 13043"/>
            </a:avLst>
          </a:prstGeom>
          <a:solidFill>
            <a:srgbClr val="EEF3FB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502920" y="42062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Notre architecture est SOA : 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2606040" y="4206240"/>
            <a:ext cx="6400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modularité et séparation des services sur une infrastructure partagée. C'est le bon compromis pour ce contexte : un projet académique modulaire, maintenable, sécurisé, sans la complexité opérationnelle des microservices.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Forces de Notre Solution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projet démontre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47472" y="1207008"/>
            <a:ext cx="2633472" cy="1664208"/>
          </a:xfrm>
          <a:prstGeom prst="roundRect">
            <a:avLst>
              <a:gd name="adj" fmla="val 6593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464" y="1316736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38912" y="1847088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Modularité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38912" y="2249424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service peut évoluer indépendamment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00400" y="1207008"/>
            <a:ext cx="2633472" cy="1664208"/>
          </a:xfrm>
          <a:prstGeom prst="roundRect">
            <a:avLst>
              <a:gd name="adj" fmla="val 6593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392" y="1316736"/>
            <a:ext cx="438912" cy="438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91840" y="1847088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Sécurité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3291840" y="2249424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double vérification Frontend/Backend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053328" y="1207008"/>
            <a:ext cx="2633472" cy="1664208"/>
          </a:xfrm>
          <a:prstGeom prst="roundRect">
            <a:avLst>
              <a:gd name="adj" fmla="val 6593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316736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44768" y="1847088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Séparation SOA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6144768" y="2249424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/ Service / Repository bien délimités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347472" y="3035808"/>
            <a:ext cx="2633472" cy="1664208"/>
          </a:xfrm>
          <a:prstGeom prst="roundRect">
            <a:avLst>
              <a:gd name="adj" fmla="val 6593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6464" y="3145536"/>
            <a:ext cx="438912" cy="4389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38912" y="3675888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Règles Métier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438912" y="4078224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encodée, pas ad hoc — fiable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3200400" y="3035808"/>
            <a:ext cx="2633472" cy="1664208"/>
          </a:xfrm>
          <a:prstGeom prst="roundRect">
            <a:avLst>
              <a:gd name="adj" fmla="val 6593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9392" y="3145536"/>
            <a:ext cx="438912" cy="4389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291840" y="3675888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Évolutivité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3291840" y="4078224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Nouvelles fonctions sans toucher aux services existants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6053328" y="3035808"/>
            <a:ext cx="2633472" cy="1664208"/>
          </a:xfrm>
          <a:prstGeom prst="roundRect">
            <a:avLst>
              <a:gd name="adj" fmla="val 6593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0" y="3145536"/>
            <a:ext cx="438912" cy="43891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144768" y="3675888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REST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6144768" y="4078224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standardisée, consommable par n'importe quel client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&amp; Perspectives d'Amélioration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architecture SOA est un point de départ, pas une fin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4023360" cy="3611880"/>
          </a:xfrm>
          <a:prstGeom prst="roundRect">
            <a:avLst>
              <a:gd name="adj" fmla="val 3038"/>
            </a:avLst>
          </a:prstGeom>
          <a:solidFill>
            <a:srgbClr val="FFF0F0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801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Actuelles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unique partagée — limite la séparation complète des services
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de documentation Swagger/OpenAPI des endpoints
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système de notifications (retards, rappels d'emprunt)
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et journal des actions limités (audit trail)
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gestion de pénalités de retard
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système de réservation de livres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1207008"/>
            <a:ext cx="4023360" cy="3611880"/>
          </a:xfrm>
          <a:prstGeom prst="roundRect">
            <a:avLst>
              <a:gd name="adj" fmla="val 3038"/>
            </a:avLst>
          </a:prstGeom>
          <a:solidFill>
            <a:srgbClr val="F0FFF4"/>
          </a:solidFill>
          <a:ln w="12700">
            <a:solidFill>
              <a:srgbClr val="2287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2801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8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Améliorations Possibles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69164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Découper en services Docker indépendants (vers microservices)
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Swagger UI pour documenter l'API
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Implémenter un système d'emails/notifications
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Enrichir le dashboard avec des graphiques et export CSV
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 moteur de recherche full-text sur le catalogue
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Pénalités automatiques après la date de retour prévue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ce projet démontre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47472" y="1234440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43560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43560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Problème réel résolu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84632" y="1938528"/>
            <a:ext cx="3913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bibliothèque numérique fonctionnelle avec gestion complète des livres, emprunts et utilisateurs.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809744" y="1234440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624" y="1435608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68112" y="143560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SOA appliquée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946904" y="1938528"/>
            <a:ext cx="3913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métier distincts, API REST comme contrat, séparation des couches, couplage faible.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47472" y="3108960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310128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05840" y="331012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Sécurité maîtrisée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84632" y="3813048"/>
            <a:ext cx="3913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JWT, gestion fine des rôles, règles métier enforced côté backend.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809744" y="3108960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4" y="3310128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68112" y="331012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évolutive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4946904" y="3813048"/>
            <a:ext cx="3913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architecture SOA peut évoluer vers des microservices si le besoin grandit.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FAQ Soutenance — Questions &amp; Réponses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types que peut poser le professeur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8503920" cy="676656"/>
          </a:xfrm>
          <a:prstGeom prst="roundRect">
            <a:avLst>
              <a:gd name="adj" fmla="val 16216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38912" y="12527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Q1. Quelle différence entre SOA et microservices 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154533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SOA organise un SI en services métier partagés avec une BDD commune. Les microservices poussent plus loin : chaque service a sa propre BDD, son propre déploiement. Notre projet est SOA : services séparés, BDD partagée.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965960"/>
            <a:ext cx="8503920" cy="676656"/>
          </a:xfrm>
          <a:prstGeom prst="roundRect">
            <a:avLst>
              <a:gd name="adj" fmla="val 16216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8912" y="20116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Q2. Votre projet n'est-il pas juste un MVC bien structuré 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230428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Non. Un MVC class basse couple la vue au modèle dans un seul runtime. Ici, le frontend est totalement séparé du backend (ports différents) et communique uniquement via API — c'est du SOA.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724912"/>
            <a:ext cx="8503920" cy="676656"/>
          </a:xfrm>
          <a:prstGeom prst="roundRect">
            <a:avLst>
              <a:gd name="adj" fmla="val 16216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8912" y="27706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Q3. Pourquoi JWT plutôt que sessions 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306324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JWT est sans état (stateless) — parfait pour une API REST. Le serveur n'a pas besoin de stocker la session : le token contient toutes les infos (user_id, rôle). Scalable et adapté à une architecture SOA.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483864"/>
            <a:ext cx="8503920" cy="676656"/>
          </a:xfrm>
          <a:prstGeom prst="roundRect">
            <a:avLst>
              <a:gd name="adj" fmla="val 16216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38912" y="35295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Q4. Que se passe-t-il si un admin essaie d'emprunter via Postman 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" y="38221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 LoanService vérifie le rôle extrait du JWT. Si rôle = admin → HTTP 403 Forbidden. L'API est sécurisée indépendamment du frontend.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4242816"/>
            <a:ext cx="8503920" cy="676656"/>
          </a:xfrm>
          <a:prstGeom prst="roundRect">
            <a:avLst>
              <a:gd name="adj" fmla="val 16216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38912" y="428853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Q5. Comment garantissez-vous qu'un membre ne retourne que ses emprunts 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8912" y="458114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Dans LoanService::return(), on vérifie que loans.user_id === $user-&gt;id extrait du JWT. Si ce n'est pas son emprunt → 403. Cette vérification est côté backend, non manipulable.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FAQ Soutenance — Questions &amp; Réponses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avancées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8503920" cy="676656"/>
          </a:xfrm>
          <a:prstGeom prst="roundRect">
            <a:avLst>
              <a:gd name="adj" fmla="val 16216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38912" y="12527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Q6. Qu'est-ce qu'un contrat de service en SOA 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154533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C'est l'interface définie entre le fournisseur et le consommateur de service. Dans notre cas : l'URL, la méthode HTTP, le format JSON attendu en entrée et en sortie. Le frontend ne connaît rien d'autre.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965960"/>
            <a:ext cx="8503920" cy="676656"/>
          </a:xfrm>
          <a:prstGeom prst="roundRect">
            <a:avLst>
              <a:gd name="adj" fmla="val 16216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8912" y="20116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Q7. Pourquoi utiliser des Repositories 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230428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Pour abstraire l'accès aux données. Si on change de BDD (ex: PostgreSQL), seuls les Repositories changent. Les Services et Controllers restent intacts.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724912"/>
            <a:ext cx="8503920" cy="676656"/>
          </a:xfrm>
          <a:prstGeom prst="roundRect">
            <a:avLst>
              <a:gd name="adj" fmla="val 16216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8912" y="27706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Q8. Comment évoluerait l'architecture si le projet grandissait 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306324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 pourrait extraire chaque service dans son propre conteneur Docker avec sa BDD, ajouter un API Gateway, et passer à une vraie architecture microservices. SOA est notre socle de départ.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483864"/>
            <a:ext cx="8503920" cy="676656"/>
          </a:xfrm>
          <a:prstGeom prst="roundRect">
            <a:avLst>
              <a:gd name="adj" fmla="val 16216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38912" y="35295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Q9. Quelle est la limite principale de votre architecture 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" y="38221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 BDD unique partagée. Elle crée un couplage de données entre les services. C'est le premier point à traiter pour évoluer vers les microservices.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4242816"/>
            <a:ext cx="8503920" cy="676656"/>
          </a:xfrm>
          <a:prstGeom prst="roundRect">
            <a:avLst>
              <a:gd name="adj" fmla="val 16216"/>
            </a:avLst>
          </a:prstGeom>
          <a:solidFill>
            <a:srgbClr val="F5F8FF"/>
          </a:solidFill>
          <a:ln w="12700">
            <a:solidFill>
              <a:srgbClr val="D0D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38912" y="428853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Q10. Pourquoi Docker dans ce projet 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8912" y="458114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Pour garantir un environnement reproductible. N'importe quel développeur peut lancer le projet avec docker-compose up. C'est aussi une bonne pratique DevOps cohérente avec une logique de services.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31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pour votre attention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0" y="1965960"/>
            <a:ext cx="365760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 Gestion de Bibliothèque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Orientée Service (SOA) · PHP · MySQL · JWT · Docker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?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Seck · Architecture Orientée Service · Projet Personnel de Fin de Module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Plateforme de Gestion de Bibliothèque — SOA</dc:title>
  <dc:subject>PptxGenJS Presentation</dc:subject>
  <dc:creator>Adama Seck</dc:creator>
  <cp:lastModifiedBy>Adama Seck</cp:lastModifiedBy>
  <cp:revision>1</cp:revision>
  <dcterms:created xsi:type="dcterms:W3CDTF">2026-06-25T11:21:32Z</dcterms:created>
  <dcterms:modified xsi:type="dcterms:W3CDTF">2026-06-25T11:21:32Z</dcterms:modified>
</cp:coreProperties>
</file>