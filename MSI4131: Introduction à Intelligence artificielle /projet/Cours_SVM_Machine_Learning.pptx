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57200" cy="4997196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731520"/>
            <a:ext cx="3200400" cy="3200400"/>
          </a:xfrm>
          <a:prstGeom prst="ellipse">
            <a:avLst/>
          </a:prstGeom>
          <a:solidFill>
            <a:srgbClr val="3949AB">
              <a:alpha val="30000"/>
            </a:srgbClr>
          </a:solidFill>
          <a:ln w="12700">
            <a:solidFill>
              <a:srgbClr val="3949A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097280"/>
            <a:ext cx="2468880" cy="2468880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5000"/>
                  </a:srgbClr>
                </a:solidFill>
              </a:rPr>
              <a:t>SVM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Complet en Machine Learning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6576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1. Définition &amp; Fondements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19272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2. Utilisation &amp; Cas d'usage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744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393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3. Application Pratique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14216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4. Implémentation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361688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5. Avantages &amp; Inconvénients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Plan du Cours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Définition &amp; Fondements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Hyperplan, marge maximale, vecteurs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49AB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Utilisation &amp; Domaines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Classification, régression, détection d'anomalies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Application Pratique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Kernel trick, SVM non-linéaire, exemples concrets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265176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49AB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3538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Implémentation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Pipeline ML, paramètres, évaluation de modèle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265176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3538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</a:rPr>
              <a:t>Avantages &amp; Inconvénients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Forces, limites et comparaison avec d'autres modèles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Définition du SVM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SVM (Support Vector Machine) est un algorithme d'apprentissage supervisé qui cherche l'hyperplan optimal séparant deux classes de données avec la marge maximale possible.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8600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Hyperplan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Frontière de décision de dimension (n-1) séparant les deux classes dans l'espace des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265176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Vecteurs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76148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Points de données les plus proches de la frontière, qui définissent et contraignent l'hyperplan optimal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286000"/>
            <a:ext cx="265176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3042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Marge Maximale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76148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Distance maximale entre les deux hyperplans parallèles délimitant les classes — principe fondamental du SVM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Fondements Mathématiques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Formulation Mathématique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Équation de l'hyperplan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4904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w·x + b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Contrainte de classification 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374904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yᵢ(w·xᵢ + b) ≥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Fonction objectif 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374904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½||w||²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Marge 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94176"/>
            <a:ext cx="374904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2 / ||w||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Lagrangien (dual) 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3749040" cy="292608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Σαᵢ - ½ΣΣαᵢαⱼyᵢyⱼ(xᵢ·xⱼ)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97280"/>
            <a:ext cx="41148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Intuition Géométrique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600200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581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Les données sont représentées comme des points dans un espace à n dimensions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2350008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On cherche le meilleur hyperplan qui sépare les classes avec la plus grande marge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099816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081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Seuls les vecteurs support (points proches de la frontière) influencent l'hyperplan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3849624"/>
            <a:ext cx="292608" cy="29260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8313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Maximiser la marge améliore la généralisation du modèle sur de nouvelles données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Types de SVM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SVM Linéaire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719072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Séparation linéaire des données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2231136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2037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Hyperplan de dimension (n-1)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2743200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715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Données linéairement séparables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3255264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Rapide à entraîner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3767328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739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Hard Margin : aucune erreur tolérée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" y="4279392"/>
            <a:ext cx="164592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Soft Margin : erreurs contrôlées par 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109728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97280"/>
            <a:ext cx="2697480" cy="4572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SVM Non-Linéaire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9272" y="1719072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Données non-linéairement séparables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9272" y="2231136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22037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Utilisation du Kernel Trick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9272" y="2743200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2715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Projection dans un espace de dim. supérieure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9272" y="3255264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Frontière non-linéaire dans l'espace original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9272" y="3767328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3739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Noyaux : RBF, Polynomial, Sigmoid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9272" y="4279392"/>
            <a:ext cx="164592" cy="16459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Plus flexible mais plus complexe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109728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1097280"/>
            <a:ext cx="2697480" cy="4572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1155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SVM à Régression (SVR)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53912" y="1719072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Adapté aux problèmes de régression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53912" y="2231136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22037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Cherche une frontière autour des données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53912" y="2743200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2715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Paramètre ε : largeur du tube de tolérance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53912" y="3255264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Les points hors du tube sont les vecteurs support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53912" y="3767328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91656" y="37398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Robuste aux outliers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53912" y="4279392"/>
            <a:ext cx="164592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4251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Applications : prévision, séries temporelles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— Le Kernel Trick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3931920" cy="43891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😟  Le Problème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737360"/>
            <a:ext cx="2011680" cy="2011680"/>
          </a:xfrm>
          <a:prstGeom prst="ellipse">
            <a:avLst/>
          </a:prstGeom>
          <a:solidFill>
            <a:srgbClr val="E8EAF6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194560"/>
            <a:ext cx="1097280" cy="1097280"/>
          </a:xfrm>
          <a:prstGeom prst="ellipse">
            <a:avLst/>
          </a:prstGeom>
          <a:solidFill>
            <a:srgbClr val="3949AB">
              <a:alpha val="70000"/>
            </a:srgbClr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9202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8346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78308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01168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8346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4612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3317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6974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5603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3935"/>
                </a:solidFill>
              </a:rPr>
              <a:t>Les données sont mélangées 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53935"/>
                </a:solidFill>
              </a:rPr>
              <a:t>impossible de tracer une droite pour les séparer 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560320"/>
            <a:ext cx="548640" cy="10972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24528" y="2788920"/>
            <a:ext cx="69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Kernel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Trick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1078992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078992"/>
            <a:ext cx="393192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0972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😊  La Solution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182880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6916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9202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73736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187452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201168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182880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29260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32004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0175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32918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0" y="310896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32461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2423160"/>
            <a:ext cx="347472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3935"/>
                </a:solidFill>
              </a:rPr>
              <a:t>← Hyperplan séparateur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3A047"/>
                </a:solidFill>
              </a:rPr>
              <a:t>En projetant dans un espace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3A047"/>
                </a:solidFill>
              </a:rPr>
              <a:t>dimension supérieure, les 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3A047"/>
                </a:solidFill>
              </a:rPr>
              <a:t>deviennent linéairement séparables !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4901184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92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Linéaire — données séparables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68880" y="4901184"/>
            <a:ext cx="164592" cy="164592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4892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Polynomial — formes courbes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901184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4892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RBF (Gaussien) — cas général ★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9440" y="4901184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4892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Sigmoïde — inspiré des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— Utilisation du SVM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384048" cy="384048"/>
          </a:xfrm>
          <a:prstGeom prst="ellipse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Classification Binaire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Email spam/non-spam, détection de fraudes bancaires, sentiment analysis positif/négatif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697480" cy="7315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61872"/>
            <a:ext cx="384048" cy="384048"/>
          </a:xfrm>
          <a:prstGeom prst="ellipse">
            <a:avLst/>
          </a:prstGeom>
          <a:solidFill>
            <a:srgbClr val="3949AB">
              <a:alpha val="80000"/>
            </a:srgbClr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Classification Multi-classe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Reconnaissance de chiffres manuscrits, catégorisation de documents, classification d'images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97280"/>
            <a:ext cx="2697480" cy="7315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61872"/>
            <a:ext cx="384048" cy="384048"/>
          </a:xfrm>
          <a:prstGeom prst="ellipse">
            <a:avLst/>
          </a:prstGeom>
          <a:solidFill>
            <a:srgbClr val="FB8C00">
              <a:alpha val="80000"/>
            </a:srgbClr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Régression (SVR)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17556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Prédiction de prix immobiliers, prévision de cours boursiers, estimation de températures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269748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82112"/>
            <a:ext cx="384048" cy="384048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Détection d'Anomalies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One-Class SVM pour détecter les intrusions réseau, pannes industrielles, transactions suspectes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3017520"/>
            <a:ext cx="269748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182112"/>
            <a:ext cx="384048" cy="384048"/>
          </a:xfrm>
          <a:prstGeom prst="ellipse">
            <a:avLst/>
          </a:prstGeom>
          <a:solidFill>
            <a:srgbClr val="43A047">
              <a:alpha val="8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Vision par Ordinateur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36758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Détection de visages (HOG+SVM), reconnaissance d'objets, classification médicale d'images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3017520"/>
            <a:ext cx="2697480" cy="7315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182112"/>
            <a:ext cx="384048" cy="384048"/>
          </a:xfrm>
          <a:prstGeom prst="ellipse">
            <a:avLst/>
          </a:prstGeom>
          <a:solidFill>
            <a:srgbClr val="283593">
              <a:alpha val="80000"/>
            </a:srgbClr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</a:rPr>
              <a:t>Bioinformatique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26480" y="367588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Classification de protéines, prédiction de gènes, analyse de séquences ADN/ARN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— Application : Classification d'Emails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508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</a:rPr>
              <a:t>Données Brutes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Emails textuels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536192"/>
            <a:ext cx="173736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1188720"/>
            <a:ext cx="1508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</a:rPr>
              <a:t>Prétraitement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21408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Nettoyage, tokenisation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57016" y="1536192"/>
            <a:ext cx="173736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1188720"/>
            <a:ext cx="1508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</a:rPr>
              <a:t>Feature 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3904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TF-IDF, Bag of Words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9512" y="1536192"/>
            <a:ext cx="173736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188720"/>
            <a:ext cx="1508760" cy="8686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Entraînement SVM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FF"/>
                </a:solidFill>
              </a:rPr>
              <a:t>Kernel RBF, C=1.0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22008" y="1536192"/>
            <a:ext cx="173736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5744" y="1188720"/>
            <a:ext cx="1508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68896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37E"/>
                </a:solidFill>
              </a:rPr>
              <a:t>Prédiction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68896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Spam / Ham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286000"/>
            <a:ext cx="502920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304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Résultats &amp; Métriques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2834640"/>
            <a:ext cx="2103120" cy="6858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834640"/>
            <a:ext cx="73152" cy="6858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Accuracy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</a:rPr>
              <a:t>97.8%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26080" y="2834640"/>
            <a:ext cx="2103120" cy="6858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283464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Précision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</a:rPr>
              <a:t>96.4%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3749040"/>
            <a:ext cx="2103120" cy="6858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749040"/>
            <a:ext cx="73152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Rappel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</a:rPr>
              <a:t>98.1%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26080" y="3749040"/>
            <a:ext cx="2103120" cy="6858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3749040"/>
            <a:ext cx="73152" cy="6858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F1-Score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108960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8C00"/>
                </a:solidFill>
              </a:rPr>
              <a:t>97.2%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577840" y="2286000"/>
            <a:ext cx="3200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77840" y="2286000"/>
            <a:ext cx="32004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Paramètres Clés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15000" y="2816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</a:rPr>
              <a:t>C (régularisation)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2816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Équilibre biais/variance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15000" y="3236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</a:rPr>
              <a:t>kernel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32369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Type de noyau utilisé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150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</a:rPr>
              <a:t>γ (gamma)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60920" y="36576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Rayon d'influence RBF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715000" y="4078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</a:rPr>
              <a:t>degree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60920" y="407822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Degré du noyau polynomial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15000" y="4498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49AB"/>
                </a:solidFill>
              </a:rPr>
              <a:t>class_weight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60920" y="44988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Gestion des classes déséquilibrées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— Implémentation : Pipeline 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52728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2527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Collecte &amp; Exploration des Données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10972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792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Analyse des distributions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084832"/>
            <a:ext cx="10972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048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Détection des valeurs manquantes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340864"/>
            <a:ext cx="10972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304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Visualisation des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115568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1252728"/>
            <a:ext cx="438912" cy="438912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12527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</a:rPr>
              <a:t>Prétraitement &amp; Normalisation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828800"/>
            <a:ext cx="109728" cy="1097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792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StandardScaler (μ=0, σ=1)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084832"/>
            <a:ext cx="109728" cy="1097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048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Encodage des variables catégorielles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2340864"/>
            <a:ext cx="109728" cy="10972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304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Gestion des valeurs aberrantes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880360"/>
            <a:ext cx="438912" cy="43891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28803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</a:rPr>
              <a:t>Sélection du Noyau &amp; Paramètres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" y="3456432"/>
            <a:ext cx="109728" cy="10972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4198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Choix du kernel (RBF recommandé)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51560" y="3712464"/>
            <a:ext cx="109728" cy="10972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Grille de recherche pour C et 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51560" y="3968496"/>
            <a:ext cx="109728" cy="10972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3931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Validation croisée k-fold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74320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2880360"/>
            <a:ext cx="438912" cy="438912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32120" y="28803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</a:rPr>
              <a:t>Entraînement &amp; Optimisation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32120" y="3456432"/>
            <a:ext cx="109728" cy="10972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4198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Fit sur les données d'entraînement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32120" y="3712464"/>
            <a:ext cx="109728" cy="10972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Optimisation quadratique (SMO)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32120" y="3968496"/>
            <a:ext cx="109728" cy="10972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931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Sélection des vecteurs support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31720" y="274320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68880" y="2880360"/>
            <a:ext cx="438912" cy="43891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017520" y="2880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Évaluation &amp; Déploiement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17520" y="3456432"/>
            <a:ext cx="109728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Matrice de confusion, AUC-ROC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17520" y="3712464"/>
            <a:ext cx="109728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3675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Rapport de classification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17520" y="3968496"/>
            <a:ext cx="109728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Sérialisation du modèle (joblib)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— Optimisation des Hyperparamètres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91440" cy="10058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</a:rPr>
              <a:t>Paramètre C — Régularisation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C faible → marge large → underfitting possible    |    C élevé → marge étroite → overfitting possible    |    Valeur typique : 0.1 à 100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9144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</a:rPr>
              <a:t>Paramètre γ (Gamma) — Noyau RBF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8775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</a:rPr>
              <a:t>γ faible → frontière lisse, biais fort    |    γ élevé → frontière irrégulière, variance forte    |    Conseil : utiliser 'scale' ou 'auto'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83280"/>
            <a:ext cx="8412480" cy="384048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015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GridSearchCV — Recherche Automatique des Meilleurs Hyperparamètres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201168" cy="20116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Définir une grille de valeurs pour C et 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858768"/>
            <a:ext cx="201168" cy="20116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Cross-validation k-fold (k=5 ou 10)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Évaluation de chaque combinaison de paramètres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334256"/>
            <a:ext cx="201168" cy="20116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Sélection automatique des meilleurs paramètres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— Avantages &amp; Inconvénients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AVANTAGES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6093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Efficace en haute dimension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Fonctionne bien même quand le nombre de features &gt; nombre d'exemples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2311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Robuste au surapprentissage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Maximiser la marge améliore la généralisation, surtout en espace de dim. élevée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Polyvalence (Kernel Trick)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Peut modéliser des frontières très complexes grâce aux noyaux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Utilise peu de mémoire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Seuls les vecteurs support sont stockés, pas toutes les données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256032" cy="25603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096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Robuste aux outliers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4315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La marge maximale rend le modèle moins sensible aux points aberrants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51560"/>
            <a:ext cx="4114800" cy="43891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069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  INCONVÉNIENTS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627632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16093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Coût de calcul élevé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1828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O(n² à n³) en temps d'entraînement — difficile sur de gros datasets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2249424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5232" y="22311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Choix du noyau difficile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La sélection du bon kernel et de ses paramètres requiert de l'expérience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2871216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85232" y="28529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Pas interprétable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5232" y="30723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Le modèle est une 'boîte noire', difficile à expliquer aux non-experts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493008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85232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Sensible à la mise à l'échelle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85232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Les features doivent impérativement être normalisées avant l'entraînement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4114800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85232" y="4096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</a:rPr>
              <a:t>Peu adapté aux grandes données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85232" y="4315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Performance médiocre sur des datasets avec des millions d'exemples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— SVM vs Autres Algorithmes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82880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164592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11556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SVM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164592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11556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Régression 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164592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11556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1645920" cy="41148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115568"/>
            <a:ext cx="1554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Réseau de Neurones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270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Haute dimension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1508760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527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1508760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527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1508760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527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527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1984248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025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Petits datasets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1984248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2002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49040" y="1984248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002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1984248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002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1984248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2002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★☆☆☆☆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2459736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78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Interprétabilité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03120" y="2459736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4780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49040" y="2459736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4780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94960" y="2459736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4780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40880" y="2459736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24780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★☆☆☆☆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2935224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953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Vitesse d'entraînement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03120" y="2935224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49040" y="2935224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94960" y="2935224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40880" y="2935224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60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3410712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4290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Données non-linéaires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3410712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749040" y="3410712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94960" y="3410712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040880" y="3410712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★★★★★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3886200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9044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Robustesse outliers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103120" y="388620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4884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749040" y="388620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394960" y="388620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4068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040880" y="388620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660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★★★☆☆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74320" y="4361688"/>
            <a:ext cx="182880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3799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74F"/>
                </a:solidFill>
              </a:rPr>
              <a:t>Gros volumes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103120" y="4361688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43799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949AB"/>
                </a:solidFill>
              </a:rPr>
              <a:t>★★☆☆☆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749040" y="4361688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94760" y="43799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394960" y="4361688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40680" y="43799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★★★★☆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040880" y="4361688"/>
            <a:ext cx="1645920" cy="457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86600" y="437997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</a:rPr>
              <a:t>★★★★★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— Quand Utiliser le SVM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Choisir SVM quand...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36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Données de petite à moyenne taille (&lt; 100 000 exemples)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Nombre de features élevé (texte, génomique, images)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60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Les données ne sont pas linéairement séparables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72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La frontière de décision doit être bien définie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85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Problème de classification binaire ou multi-classe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97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Besoin de robustesse face aux outliers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069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Éviter SVM quand...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664208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6367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Dataset très volumineux (&gt; 500 000 exemples)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2176272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 temps d'entraînement est une contrainte forte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2688336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660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L'interprétabilité du modèle est primordiale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200400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172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Les données contiennent beaucoup de bruit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0" y="3712464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685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Les features sont redondantes ou peu pertinentes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4224528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4197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</a:rPr>
              <a:t>Besoin de probabilités de sortie (SVM donne des classes)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548640"/>
            <a:ext cx="3657600" cy="3657600"/>
          </a:xfrm>
          <a:prstGeom prst="ellipse">
            <a:avLst/>
          </a:prstGeom>
          <a:solidFill>
            <a:srgbClr val="3949AB">
              <a:alpha val="25000"/>
            </a:srgbClr>
          </a:solidFill>
          <a:ln w="12700">
            <a:solidFill>
              <a:srgbClr val="3949A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32004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Le SVM est un algorithme puissant reposant sur la maximisation de la marge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39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Le Kernel Trick étend son application aux problèmes non-linéaires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4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33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Excellents résultats sur des données de dimension élevée et petits datasets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4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278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Paramétrage crucial : C, kernel et γ doivent être optimisés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8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221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Toujours normaliser les données avant d'entraîner un SVM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6A69A"/>
                </a:solidFill>
              </a:rPr>
              <a:t>« Le SVM trouve la frontière qui sépare les classes avec le plus grand espace possible — simple, élégant, robuste. »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 - Cours Complet</dc:title>
  <dc:subject>PptxGenJS Presentation</dc:subject>
  <dc:creator>PptxGenJS</dc:creator>
  <cp:lastModifiedBy>PptxGenJS</cp:lastModifiedBy>
  <cp:revision>1</cp:revision>
  <dcterms:created xsi:type="dcterms:W3CDTF">2026-03-09T04:26:23Z</dcterms:created>
  <dcterms:modified xsi:type="dcterms:W3CDTF">2026-03-09T04:26:23Z</dcterms:modified>
</cp:coreProperties>
</file>