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3" r:id="rId20"/>
    <p:sldId id="294" r:id="rId21"/>
    <p:sldId id="295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23713" y="-19100"/>
            <a:ext cx="2544572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82040"/>
          </a:xfrm>
          <a:custGeom>
            <a:avLst/>
            <a:gdLst/>
            <a:ahLst/>
            <a:cxnLst/>
            <a:rect l="l" t="t" r="r" b="b"/>
            <a:pathLst>
              <a:path w="12192000" h="1082040">
                <a:moveTo>
                  <a:pt x="12192000" y="0"/>
                </a:moveTo>
                <a:lnTo>
                  <a:pt x="0" y="0"/>
                </a:lnTo>
                <a:lnTo>
                  <a:pt x="0" y="1082039"/>
                </a:lnTo>
                <a:lnTo>
                  <a:pt x="12192000" y="10820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082040"/>
          </a:xfrm>
          <a:custGeom>
            <a:avLst/>
            <a:gdLst/>
            <a:ahLst/>
            <a:cxnLst/>
            <a:rect l="l" t="t" r="r" b="b"/>
            <a:pathLst>
              <a:path w="12192000" h="1082040">
                <a:moveTo>
                  <a:pt x="0" y="1082039"/>
                </a:moveTo>
                <a:lnTo>
                  <a:pt x="12192000" y="1082039"/>
                </a:lnTo>
                <a:lnTo>
                  <a:pt x="12192000" y="0"/>
                </a:lnTo>
                <a:lnTo>
                  <a:pt x="0" y="0"/>
                </a:lnTo>
                <a:lnTo>
                  <a:pt x="0" y="1082039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4719" y="-812"/>
            <a:ext cx="6782561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5425" y="1424050"/>
            <a:ext cx="11406505" cy="3502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71935" y="6451349"/>
            <a:ext cx="222250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mailto:sada.anne@uadb.edu.s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" y="0"/>
              <a:ext cx="12190476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3" y="0"/>
              <a:ext cx="12190475" cy="1028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9215" y="0"/>
              <a:ext cx="6272783" cy="6004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3" y="0"/>
              <a:ext cx="12190476" cy="1021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1815"/>
              <a:ext cx="12192000" cy="9022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763139" y="2720466"/>
            <a:ext cx="6235065" cy="2284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23300"/>
              </a:lnSpc>
              <a:spcBef>
                <a:spcPts val="100"/>
              </a:spcBef>
            </a:pPr>
            <a:r>
              <a:rPr sz="2400" dirty="0">
                <a:latin typeface="Constantia"/>
                <a:cs typeface="Constantia"/>
              </a:rPr>
              <a:t>M1</a:t>
            </a:r>
            <a:r>
              <a:rPr sz="2400" spc="2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–Université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Alioune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Diop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Bambey(SI-</a:t>
            </a:r>
            <a:r>
              <a:rPr sz="2400" spc="-25" dirty="0">
                <a:latin typeface="Constantia"/>
                <a:cs typeface="Constantia"/>
              </a:rPr>
              <a:t>SR) </a:t>
            </a:r>
            <a:r>
              <a:rPr sz="2400" spc="-10" dirty="0">
                <a:latin typeface="Constantia"/>
                <a:cs typeface="Constantia"/>
              </a:rPr>
              <a:t>Année</a:t>
            </a:r>
            <a:r>
              <a:rPr sz="2400" spc="-145" dirty="0">
                <a:latin typeface="Constantia"/>
                <a:cs typeface="Constantia"/>
              </a:rPr>
              <a:t> </a:t>
            </a:r>
            <a:r>
              <a:rPr sz="2400" spc="-30" dirty="0">
                <a:latin typeface="Constantia"/>
                <a:cs typeface="Constantia"/>
              </a:rPr>
              <a:t>2022-</a:t>
            </a:r>
            <a:r>
              <a:rPr sz="2400" spc="-20" dirty="0">
                <a:latin typeface="Constantia"/>
                <a:cs typeface="Constantia"/>
              </a:rPr>
              <a:t>2023</a:t>
            </a:r>
            <a:endParaRPr sz="2400">
              <a:latin typeface="Constantia"/>
              <a:cs typeface="Constantia"/>
            </a:endParaRPr>
          </a:p>
          <a:p>
            <a:pPr marL="12065" algn="ctr">
              <a:lnSpc>
                <a:spcPct val="100000"/>
              </a:lnSpc>
              <a:spcBef>
                <a:spcPts val="840"/>
              </a:spcBef>
            </a:pPr>
            <a:r>
              <a:rPr sz="2400" dirty="0">
                <a:latin typeface="Constantia"/>
                <a:cs typeface="Constantia"/>
              </a:rPr>
              <a:t>M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30" dirty="0">
                <a:latin typeface="Constantia"/>
                <a:cs typeface="Constantia"/>
              </a:rPr>
              <a:t>SADA</a:t>
            </a:r>
            <a:r>
              <a:rPr sz="2400" spc="-32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ANNE</a:t>
            </a:r>
            <a:endParaRPr sz="2400">
              <a:latin typeface="Constantia"/>
              <a:cs typeface="Constantia"/>
            </a:endParaRPr>
          </a:p>
          <a:p>
            <a:pPr marL="960119" marR="958850" indent="3810" algn="ctr">
              <a:lnSpc>
                <a:spcPct val="120800"/>
              </a:lnSpc>
            </a:pPr>
            <a:r>
              <a:rPr sz="2400" spc="-10" dirty="0">
                <a:latin typeface="Constantia"/>
                <a:cs typeface="Constantia"/>
              </a:rPr>
              <a:t>Enseignant</a:t>
            </a:r>
            <a:r>
              <a:rPr sz="2400" spc="-2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au</a:t>
            </a:r>
            <a:r>
              <a:rPr sz="2400" spc="-1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département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TIC </a:t>
            </a:r>
            <a:r>
              <a:rPr sz="2400" spc="-20" dirty="0">
                <a:latin typeface="Constantia"/>
                <a:cs typeface="Constantia"/>
              </a:rPr>
              <a:t>Contact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: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  <a:hlinkClick r:id="rId7"/>
              </a:rPr>
              <a:t>sada</a:t>
            </a:r>
            <a:r>
              <a:rPr sz="2400" spc="-10" dirty="0">
                <a:latin typeface="Calibri"/>
                <a:cs typeface="Calibri"/>
                <a:hlinkClick r:id="rId7"/>
              </a:rPr>
              <a:t>.anne@uadb.edu.sn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25217" y="1052525"/>
            <a:ext cx="807910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 marR="5080" indent="-213360">
              <a:lnSpc>
                <a:spcPct val="100000"/>
              </a:lnSpc>
              <a:spcBef>
                <a:spcPts val="100"/>
              </a:spcBef>
              <a:tabLst>
                <a:tab pos="5579110" algn="l"/>
              </a:tabLst>
            </a:pPr>
            <a:r>
              <a:rPr sz="4800" b="1" dirty="0">
                <a:latin typeface="Times New Roman"/>
                <a:cs typeface="Times New Roman"/>
              </a:rPr>
              <a:t>Chapitre</a:t>
            </a:r>
            <a:r>
              <a:rPr sz="4800" b="1" spc="-30" dirty="0">
                <a:latin typeface="Times New Roman"/>
                <a:cs typeface="Times New Roman"/>
              </a:rPr>
              <a:t> </a:t>
            </a:r>
            <a:r>
              <a:rPr sz="4800" b="1" dirty="0">
                <a:latin typeface="Times New Roman"/>
                <a:cs typeface="Times New Roman"/>
              </a:rPr>
              <a:t>4</a:t>
            </a:r>
            <a:r>
              <a:rPr sz="4800" b="1" spc="-25" dirty="0">
                <a:latin typeface="Times New Roman"/>
                <a:cs typeface="Times New Roman"/>
              </a:rPr>
              <a:t> </a:t>
            </a:r>
            <a:r>
              <a:rPr sz="4800" b="1" dirty="0">
                <a:latin typeface="Times New Roman"/>
                <a:cs typeface="Times New Roman"/>
              </a:rPr>
              <a:t>:</a:t>
            </a:r>
            <a:r>
              <a:rPr sz="4800" b="1" spc="-290" dirty="0">
                <a:latin typeface="Times New Roman"/>
                <a:cs typeface="Times New Roman"/>
              </a:rPr>
              <a:t> </a:t>
            </a:r>
            <a:r>
              <a:rPr sz="4800" b="1" dirty="0">
                <a:latin typeface="Times New Roman"/>
                <a:cs typeface="Times New Roman"/>
              </a:rPr>
              <a:t>Automatisation</a:t>
            </a:r>
            <a:r>
              <a:rPr sz="4800" b="1" spc="-10" dirty="0">
                <a:latin typeface="Times New Roman"/>
                <a:cs typeface="Times New Roman"/>
              </a:rPr>
              <a:t> </a:t>
            </a:r>
            <a:r>
              <a:rPr sz="4800" b="1" spc="-25" dirty="0">
                <a:latin typeface="Times New Roman"/>
                <a:cs typeface="Times New Roman"/>
              </a:rPr>
              <a:t>de </a:t>
            </a:r>
            <a:r>
              <a:rPr sz="4800" b="1" spc="-10" dirty="0">
                <a:latin typeface="Times New Roman"/>
                <a:cs typeface="Times New Roman"/>
              </a:rPr>
              <a:t>l'administration</a:t>
            </a:r>
            <a:r>
              <a:rPr sz="4800" b="1" spc="-170" dirty="0">
                <a:latin typeface="Times New Roman"/>
                <a:cs typeface="Times New Roman"/>
              </a:rPr>
              <a:t> </a:t>
            </a:r>
            <a:r>
              <a:rPr sz="4800" b="1" spc="-25" dirty="0">
                <a:latin typeface="Times New Roman"/>
                <a:cs typeface="Times New Roman"/>
              </a:rPr>
              <a:t>des</a:t>
            </a:r>
            <a:r>
              <a:rPr sz="4800" b="1" dirty="0">
                <a:latin typeface="Times New Roman"/>
                <a:cs typeface="Times New Roman"/>
              </a:rPr>
              <a:t>	</a:t>
            </a:r>
            <a:r>
              <a:rPr sz="4800" b="1" spc="-10" dirty="0">
                <a:latin typeface="Times New Roman"/>
                <a:cs typeface="Times New Roman"/>
              </a:rPr>
              <a:t>systèmes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8750" y="2408885"/>
            <a:ext cx="9326245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22040" marR="5080" indent="-360934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Automatisation</a:t>
            </a:r>
            <a:r>
              <a:rPr sz="4400" b="1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de</a:t>
            </a:r>
            <a:r>
              <a:rPr sz="4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l'administration</a:t>
            </a:r>
            <a:r>
              <a:rPr sz="44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des </a:t>
            </a:r>
            <a:r>
              <a:rPr sz="4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systèmes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70497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Shell </a:t>
            </a:r>
            <a:r>
              <a:rPr sz="5400" spc="-10" dirty="0"/>
              <a:t>Basics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3494" y="1622526"/>
            <a:ext cx="11565255" cy="452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715" indent="-228600">
              <a:lnSpc>
                <a:spcPct val="150000"/>
              </a:lnSpc>
              <a:spcBef>
                <a:spcPts val="100"/>
              </a:spcBef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UNIX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interprète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saisissez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au </a:t>
            </a:r>
            <a:r>
              <a:rPr sz="2000" spc="-10" dirty="0">
                <a:latin typeface="Times New Roman"/>
                <a:cs typeface="Times New Roman"/>
              </a:rPr>
              <a:t>clavier.</a:t>
            </a:r>
            <a:endParaRPr sz="2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994"/>
              </a:spcBef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UNIX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propose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plusieurs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interpréteurs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commandes,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Bourne,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l'interpréteur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Korn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C.</a:t>
            </a:r>
            <a:endParaRPr sz="2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1005"/>
              </a:spcBef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Steve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Bourne,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laboratoires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AT&amp;T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Bell,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développé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premier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processeur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de </a:t>
            </a:r>
            <a:r>
              <a:rPr sz="2000" dirty="0">
                <a:latin typeface="Times New Roman"/>
                <a:cs typeface="Times New Roman"/>
              </a:rPr>
              <a:t>commande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UNIX</a:t>
            </a:r>
            <a:endParaRPr sz="2000" dirty="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150000"/>
              </a:lnSpc>
              <a:spcBef>
                <a:spcPts val="1000"/>
              </a:spcBef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Korn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comprend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nombreuses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extensions,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telles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qu'une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fonction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d'historique, </a:t>
            </a:r>
            <a:r>
              <a:rPr sz="2000" dirty="0">
                <a:latin typeface="Times New Roman"/>
                <a:cs typeface="Times New Roman"/>
              </a:rPr>
              <a:t>qui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permet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d'utiliser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raccourci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clavier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pour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retrouver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avez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précédemment saisies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70497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Shell </a:t>
            </a:r>
            <a:r>
              <a:rPr sz="5400" spc="-10" dirty="0"/>
              <a:t>Basics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3494" y="1774317"/>
            <a:ext cx="10496550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 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conçu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programmeurs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C.</a:t>
            </a:r>
            <a:endParaRPr sz="2000">
              <a:latin typeface="Times New Roman"/>
              <a:cs typeface="Times New Roman"/>
            </a:endParaRPr>
          </a:p>
          <a:p>
            <a:pPr marL="12700" marR="5080" indent="228600">
              <a:lnSpc>
                <a:spcPts val="461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Linux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gratuit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comme interpréteur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défaut </a:t>
            </a:r>
            <a:r>
              <a:rPr sz="2000" dirty="0">
                <a:latin typeface="Times New Roman"/>
                <a:cs typeface="Times New Roman"/>
              </a:rPr>
              <a:t>(compatible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avec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Bourne,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créé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distribué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GNU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7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5" dirty="0">
                <a:latin typeface="Times New Roman"/>
                <a:cs typeface="Times New Roman"/>
              </a:rPr>
              <a:t>Vous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pouvez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choisir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celui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correspond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mieux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à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façon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travailler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.....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70497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Shell </a:t>
            </a:r>
            <a:r>
              <a:rPr sz="5400" spc="-10" dirty="0"/>
              <a:t>Basics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3494" y="1774317"/>
            <a:ext cx="9368790" cy="38373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5" dirty="0">
                <a:latin typeface="Times New Roman"/>
                <a:cs typeface="Times New Roman"/>
              </a:rPr>
              <a:t>Vous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choisissez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lorsque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l'administrateur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système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compte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utilisateur.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Bourne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sh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Shell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Korn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 </a:t>
            </a:r>
            <a:r>
              <a:rPr sz="2000" spc="-25" dirty="0">
                <a:latin typeface="Times New Roman"/>
                <a:cs typeface="Times New Roman"/>
              </a:rPr>
              <a:t>ksh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csh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Bash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bash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tcsh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(sous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macos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c’est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defaut)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Z shell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(shell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libre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dérivé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Korn)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 </a:t>
            </a:r>
            <a:r>
              <a:rPr sz="2000" spc="-25" dirty="0">
                <a:latin typeface="Times New Roman"/>
                <a:cs typeface="Times New Roman"/>
              </a:rPr>
              <a:t>zsh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70497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Shell </a:t>
            </a:r>
            <a:r>
              <a:rPr sz="5400" spc="-10" dirty="0"/>
              <a:t>Basics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3494" y="1622526"/>
            <a:ext cx="11678920" cy="152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fois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avez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choisi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interpréteur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l'administrateur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système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enregistre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choix </a:t>
            </a:r>
            <a:r>
              <a:rPr sz="2000" dirty="0">
                <a:latin typeface="Times New Roman"/>
                <a:cs typeface="Times New Roman"/>
              </a:rPr>
              <a:t>dans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dossier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compte,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assigné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UNIX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 shell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à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chaque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connectez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(essayez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%echo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$SHELL)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70497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Shell </a:t>
            </a:r>
            <a:r>
              <a:rPr sz="5400" spc="-10" dirty="0"/>
              <a:t>Basics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3494" y="1622526"/>
            <a:ext cx="11680825" cy="431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fois que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avez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choisi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 interprète 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l'administrateur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système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enregistre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choix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dans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dossier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l'interprète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été</a:t>
            </a:r>
            <a:r>
              <a:rPr sz="2000" spc="-10" dirty="0">
                <a:latin typeface="Times New Roman"/>
                <a:cs typeface="Times New Roman"/>
              </a:rPr>
              <a:t> attribué.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UNIX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interpréteur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à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chaque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connectez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(essayez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%echo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$SHELL).</a:t>
            </a:r>
            <a:endParaRPr sz="2000">
              <a:latin typeface="Times New Roman"/>
              <a:cs typeface="Times New Roman"/>
            </a:endParaRPr>
          </a:p>
          <a:p>
            <a:pPr marL="12700" marR="5080" indent="63500">
              <a:lnSpc>
                <a:spcPct val="150000"/>
              </a:lnSpc>
              <a:spcBef>
                <a:spcPts val="1010"/>
              </a:spcBef>
              <a:tabLst>
                <a:tab pos="1356995" algn="l"/>
                <a:tab pos="1967864" algn="l"/>
                <a:tab pos="2832100" algn="l"/>
                <a:tab pos="3597275" algn="l"/>
                <a:tab pos="4155440" algn="l"/>
                <a:tab pos="4763135" algn="l"/>
                <a:tab pos="5006975" algn="l"/>
                <a:tab pos="5761990" algn="l"/>
                <a:tab pos="6130290" algn="l"/>
                <a:tab pos="6882130" algn="l"/>
                <a:tab pos="7194550" algn="l"/>
                <a:tab pos="7773670" algn="l"/>
                <a:tab pos="8161020" algn="l"/>
                <a:tab pos="8768715" algn="l"/>
                <a:tab pos="9309735" algn="l"/>
                <a:tab pos="10363200" algn="l"/>
                <a:tab pos="10845165" algn="l"/>
                <a:tab pos="11425555" algn="l"/>
              </a:tabLst>
            </a:pPr>
            <a:r>
              <a:rPr sz="2000" spc="-10" dirty="0">
                <a:latin typeface="Times New Roman"/>
                <a:cs typeface="Times New Roman"/>
              </a:rPr>
              <a:t>Cependant,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vous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pouvez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passer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d'un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shell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à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l'autre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en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tapant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nom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du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shell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(par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exemple,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txt)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nom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de </a:t>
            </a:r>
            <a:r>
              <a:rPr sz="2000" dirty="0">
                <a:latin typeface="Times New Roman"/>
                <a:cs typeface="Times New Roman"/>
              </a:rPr>
              <a:t>l'interpréteur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(tel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tcsh,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zsh)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 (essayez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%chsh)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Exemple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fichier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/etc/passwd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76200" marR="5335905" indent="-64135">
              <a:lnSpc>
                <a:spcPts val="4610"/>
              </a:lnSpc>
              <a:spcBef>
                <a:spcPts val="305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saman:xxxxx:500:500:Saman</a:t>
            </a:r>
            <a:r>
              <a:rPr sz="2000" b="1" spc="-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Silva:/home/saman:/bin/tcsh root:xxxxxxxx:0:0:root:/root:/bin/bash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1664" y="52527"/>
            <a:ext cx="84086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Édition</a:t>
            </a:r>
            <a:r>
              <a:rPr sz="5400" spc="-5" dirty="0"/>
              <a:t> </a:t>
            </a:r>
            <a:r>
              <a:rPr sz="5400" dirty="0"/>
              <a:t>en</a:t>
            </a:r>
            <a:r>
              <a:rPr sz="5400" spc="-5" dirty="0"/>
              <a:t> </a:t>
            </a:r>
            <a:r>
              <a:rPr sz="5400" dirty="0"/>
              <a:t>ligne</a:t>
            </a:r>
            <a:r>
              <a:rPr sz="5400" spc="-5" dirty="0"/>
              <a:t> </a:t>
            </a:r>
            <a:r>
              <a:rPr sz="5400" dirty="0"/>
              <a:t>de</a:t>
            </a:r>
            <a:r>
              <a:rPr sz="5400" spc="-5" dirty="0"/>
              <a:t> </a:t>
            </a:r>
            <a:r>
              <a:rPr sz="5400" spc="-10" dirty="0"/>
              <a:t>commande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3494" y="1774317"/>
            <a:ext cx="11682095" cy="37103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prennent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certaines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séquences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touches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effectuer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l'édition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0" dirty="0">
                <a:latin typeface="Times New Roman"/>
                <a:cs typeface="Times New Roman"/>
              </a:rPr>
              <a:t> commande.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9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exemple,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prend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charge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 touches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fléchées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gauche et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droite,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déplacent le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curseur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 la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ligne </a:t>
            </a:r>
            <a:r>
              <a:rPr sz="2000" spc="-25" dirty="0">
                <a:latin typeface="Times New Roman"/>
                <a:cs typeface="Times New Roman"/>
              </a:rPr>
              <a:t>de </a:t>
            </a:r>
            <a:r>
              <a:rPr sz="2000" spc="-10" dirty="0">
                <a:latin typeface="Times New Roman"/>
                <a:cs typeface="Times New Roman"/>
              </a:rPr>
              <a:t>commande.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2000" spc="-10" dirty="0">
                <a:latin typeface="Times New Roman"/>
                <a:cs typeface="Times New Roman"/>
              </a:rPr>
              <a:t>Tous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prennent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l'édition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même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manière.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Saisie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plusieurs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commandes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2000" spc="-55" dirty="0">
                <a:latin typeface="Times New Roman"/>
                <a:cs typeface="Times New Roman"/>
              </a:rPr>
              <a:t>Vous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pouvez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taper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plusieurs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séparant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point-virgule(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;)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304800" indent="-292735">
              <a:lnSpc>
                <a:spcPct val="100000"/>
              </a:lnSpc>
              <a:buFont typeface="Wingdings"/>
              <a:buChar char=""/>
              <a:tabLst>
                <a:tab pos="305435" algn="l"/>
              </a:tabLst>
            </a:pPr>
            <a:r>
              <a:rPr sz="2000" dirty="0">
                <a:latin typeface="Times New Roman"/>
                <a:cs typeface="Times New Roman"/>
              </a:rPr>
              <a:t>Lorsque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appuyez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Entrée,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UNIX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exécute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l'ordre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lequel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avez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saisies.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1664" y="52527"/>
            <a:ext cx="84086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Édition</a:t>
            </a:r>
            <a:r>
              <a:rPr sz="5400" spc="-5" dirty="0"/>
              <a:t> </a:t>
            </a:r>
            <a:r>
              <a:rPr sz="5400" dirty="0"/>
              <a:t>en</a:t>
            </a:r>
            <a:r>
              <a:rPr sz="5400" spc="-5" dirty="0"/>
              <a:t> </a:t>
            </a:r>
            <a:r>
              <a:rPr sz="5400" dirty="0"/>
              <a:t>ligne</a:t>
            </a:r>
            <a:r>
              <a:rPr sz="5400" spc="-5" dirty="0"/>
              <a:t> </a:t>
            </a:r>
            <a:r>
              <a:rPr sz="5400" dirty="0"/>
              <a:t>de</a:t>
            </a:r>
            <a:r>
              <a:rPr sz="5400" spc="-5" dirty="0"/>
              <a:t> </a:t>
            </a:r>
            <a:r>
              <a:rPr sz="5400" spc="-10" dirty="0"/>
              <a:t>commande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3494" y="1774317"/>
            <a:ext cx="9563100" cy="915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5" dirty="0">
                <a:latin typeface="Times New Roman"/>
                <a:cs typeface="Times New Roman"/>
              </a:rPr>
              <a:t>Vous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pouvez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utiliser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effacer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votre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écran.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2000" spc="-55" dirty="0">
                <a:latin typeface="Times New Roman"/>
                <a:cs typeface="Times New Roman"/>
              </a:rPr>
              <a:t>Vous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pouvez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accéder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l'historique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à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l'aide 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touches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fléchées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20" dirty="0">
                <a:latin typeface="Times New Roman"/>
                <a:cs typeface="Times New Roman"/>
              </a:rPr>
              <a:t> bas,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057" y="52527"/>
            <a:ext cx="106178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Interaction</a:t>
            </a:r>
            <a:r>
              <a:rPr sz="5400" spc="-5" dirty="0"/>
              <a:t> </a:t>
            </a:r>
            <a:r>
              <a:rPr sz="5400" dirty="0"/>
              <a:t>de</a:t>
            </a:r>
            <a:r>
              <a:rPr sz="5400" spc="5" dirty="0"/>
              <a:t> </a:t>
            </a:r>
            <a:r>
              <a:rPr sz="5400" dirty="0"/>
              <a:t>l'utilisateur</a:t>
            </a:r>
            <a:r>
              <a:rPr sz="5400" spc="20" dirty="0"/>
              <a:t> </a:t>
            </a:r>
            <a:r>
              <a:rPr sz="5400" dirty="0"/>
              <a:t>avec</a:t>
            </a:r>
            <a:r>
              <a:rPr sz="5400" spc="5" dirty="0"/>
              <a:t> </a:t>
            </a:r>
            <a:r>
              <a:rPr sz="5400" dirty="0"/>
              <a:t>le</a:t>
            </a:r>
            <a:r>
              <a:rPr sz="5400" spc="20" dirty="0"/>
              <a:t> </a:t>
            </a:r>
            <a:r>
              <a:rPr sz="5400" spc="-10" dirty="0"/>
              <a:t>shell</a:t>
            </a:r>
            <a:endParaRPr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1468" y="2224313"/>
            <a:ext cx="5049285" cy="40210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8220" y="2886583"/>
            <a:ext cx="7854950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0" b="1" dirty="0">
                <a:solidFill>
                  <a:srgbClr val="000000"/>
                </a:solidFill>
                <a:latin typeface="Times New Roman"/>
                <a:cs typeface="Times New Roman"/>
              </a:rPr>
              <a:t>Scripts</a:t>
            </a:r>
            <a:r>
              <a:rPr sz="11500" b="1" spc="-3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Bash</a:t>
            </a:r>
            <a:endParaRPr sz="1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647189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Scripts </a:t>
            </a:r>
            <a:r>
              <a:rPr sz="5400" spc="-10" dirty="0"/>
              <a:t>Shell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45972" y="1319298"/>
            <a:ext cx="9879965" cy="2967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77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-1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quoi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servent-</a:t>
            </a:r>
            <a:r>
              <a:rPr sz="2800" b="1" dirty="0">
                <a:latin typeface="Times New Roman"/>
                <a:cs typeface="Times New Roman"/>
              </a:rPr>
              <a:t>ils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  <a:p>
            <a:pPr marL="12700" marR="247650" indent="189230">
              <a:lnSpc>
                <a:spcPts val="3030"/>
              </a:lnSpc>
              <a:spcBef>
                <a:spcPts val="1045"/>
              </a:spcBef>
              <a:buChar char="-"/>
              <a:tabLst>
                <a:tab pos="201930" algn="l"/>
              </a:tabLst>
            </a:pPr>
            <a:r>
              <a:rPr sz="2800" dirty="0">
                <a:latin typeface="Times New Roman"/>
                <a:cs typeface="Times New Roman"/>
              </a:rPr>
              <a:t>Automatiser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certaines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activités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courantes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qu'un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utilisateur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effectue régulièrement.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1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Ils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même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fonction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fichiers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batch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dans</a:t>
            </a:r>
            <a:r>
              <a:rPr sz="2800" spc="-10" dirty="0">
                <a:latin typeface="Times New Roman"/>
                <a:cs typeface="Times New Roman"/>
              </a:rPr>
              <a:t> DOS/Windows.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Exemple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92100" indent="-280035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dirty="0">
                <a:latin typeface="Times New Roman"/>
                <a:cs typeface="Times New Roman"/>
              </a:rPr>
              <a:t>rename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1000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fichiers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majuscules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minuscules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7820" y="52527"/>
            <a:ext cx="74358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Que sont les scripts</a:t>
            </a:r>
            <a:r>
              <a:rPr sz="5400" spc="-20" dirty="0"/>
              <a:t> </a:t>
            </a:r>
            <a:r>
              <a:rPr sz="5400" dirty="0"/>
              <a:t>Shell </a:t>
            </a:r>
            <a:r>
              <a:rPr sz="5400" spc="-50" dirty="0"/>
              <a:t>?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45972" y="1321269"/>
            <a:ext cx="10422255" cy="50126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7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Fichiers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texte/ASCII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ensemble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UNIX/Linux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(ls,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mv,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cp,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less,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cat, </a:t>
            </a:r>
            <a:r>
              <a:rPr sz="2800" dirty="0">
                <a:latin typeface="Times New Roman"/>
                <a:cs typeface="Times New Roman"/>
              </a:rPr>
              <a:t>etc.)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ainsi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que</a:t>
            </a:r>
            <a:endParaRPr sz="2800">
              <a:latin typeface="Times New Roman"/>
              <a:cs typeface="Times New Roman"/>
            </a:endParaRPr>
          </a:p>
          <a:p>
            <a:pPr marL="292100" indent="-280035">
              <a:lnSpc>
                <a:spcPct val="100000"/>
              </a:lnSpc>
              <a:spcBef>
                <a:spcPts val="62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b="1" dirty="0">
                <a:latin typeface="Times New Roman"/>
                <a:cs typeface="Times New Roman"/>
              </a:rPr>
              <a:t>flow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contrôle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certaine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logique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conditionnelle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branchements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(ifthen),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7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structures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boucle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(foreach,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while),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I/O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(echo,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print,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...).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ils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permettent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l'utilisation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variables.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ils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sont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interprétés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directement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shell.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certains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d'entre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eux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(csh,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tcsh)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partagent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partie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syntaxe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DOS/Win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équivalent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fichiers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batch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(.bat)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33" y="52527"/>
            <a:ext cx="117544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Pourquoi</a:t>
            </a:r>
            <a:r>
              <a:rPr sz="5400" spc="-15" dirty="0"/>
              <a:t> </a:t>
            </a:r>
            <a:r>
              <a:rPr sz="5400" dirty="0"/>
              <a:t>ne</a:t>
            </a:r>
            <a:r>
              <a:rPr sz="5400" spc="-5" dirty="0"/>
              <a:t> </a:t>
            </a:r>
            <a:r>
              <a:rPr sz="5400" dirty="0"/>
              <a:t>pas utiliser</a:t>
            </a:r>
            <a:r>
              <a:rPr sz="5400" spc="-5" dirty="0"/>
              <a:t> </a:t>
            </a:r>
            <a:r>
              <a:rPr sz="5400" dirty="0"/>
              <a:t>C/C++ pour</a:t>
            </a:r>
            <a:r>
              <a:rPr sz="5400" spc="-5" dirty="0"/>
              <a:t> </a:t>
            </a:r>
            <a:r>
              <a:rPr sz="5400" dirty="0"/>
              <a:t>cela </a:t>
            </a:r>
            <a:r>
              <a:rPr sz="5400" spc="-50" dirty="0"/>
              <a:t>?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10692" y="1588135"/>
            <a:ext cx="11238865" cy="3907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 algn="just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programmation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C/C++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nécessite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compilation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couplage,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100"/>
              </a:lnSpc>
              <a:spcBef>
                <a:spcPts val="990"/>
              </a:spcBef>
            </a:pPr>
            <a:r>
              <a:rPr sz="2800" spc="-10" dirty="0">
                <a:latin typeface="Times New Roman"/>
                <a:cs typeface="Times New Roman"/>
              </a:rPr>
              <a:t>peut-</a:t>
            </a:r>
            <a:r>
              <a:rPr sz="2800" dirty="0">
                <a:latin typeface="Times New Roman"/>
                <a:cs typeface="Times New Roman"/>
              </a:rPr>
              <a:t>être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bibliothèques,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qui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peuvent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être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disponibles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(serveurs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de </a:t>
            </a:r>
            <a:r>
              <a:rPr sz="2800" spc="-10" dirty="0">
                <a:latin typeface="Times New Roman"/>
                <a:cs typeface="Times New Roman"/>
              </a:rPr>
              <a:t>production).</a:t>
            </a:r>
            <a:endParaRPr sz="2800">
              <a:latin typeface="Times New Roman"/>
              <a:cs typeface="Times New Roman"/>
            </a:endParaRPr>
          </a:p>
          <a:p>
            <a:pPr marL="241300" marR="6985" indent="-228600" algn="just">
              <a:lnSpc>
                <a:spcPct val="150000"/>
              </a:lnSpc>
              <a:spcBef>
                <a:spcPts val="101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Pour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tâches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typiques,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beaucoup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plus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rapide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dans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développement,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le </a:t>
            </a:r>
            <a:r>
              <a:rPr sz="2800" dirty="0">
                <a:latin typeface="Times New Roman"/>
                <a:cs typeface="Times New Roman"/>
              </a:rPr>
              <a:t>débogage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maintenance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(parce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qu'ils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sont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interprétés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nécessitent 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compilation).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5336" y="52527"/>
            <a:ext cx="75615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Invocation d'un script </a:t>
            </a:r>
            <a:r>
              <a:rPr sz="5400" spc="-10" dirty="0"/>
              <a:t>Shell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10692" y="1321269"/>
            <a:ext cx="11211560" cy="50126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775"/>
              </a:spcBef>
              <a:buFont typeface="Wingdings"/>
              <a:buChar char=""/>
              <a:tabLst>
                <a:tab pos="383540" algn="l"/>
              </a:tabLst>
            </a:pPr>
            <a:r>
              <a:rPr sz="2800" dirty="0">
                <a:latin typeface="Times New Roman"/>
                <a:cs typeface="Times New Roman"/>
              </a:rPr>
              <a:t>Spécifier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directement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l'interpréteur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commandes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25425" indent="-213360">
              <a:lnSpc>
                <a:spcPct val="100000"/>
              </a:lnSpc>
              <a:spcBef>
                <a:spcPts val="675"/>
              </a:spcBef>
              <a:buChar char="•"/>
              <a:tabLst>
                <a:tab pos="226060" algn="l"/>
              </a:tabLst>
            </a:pPr>
            <a:r>
              <a:rPr sz="2800" dirty="0">
                <a:latin typeface="Times New Roman"/>
                <a:cs typeface="Times New Roman"/>
              </a:rPr>
              <a:t>%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tcsh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myshellscript</a:t>
            </a:r>
            <a:endParaRPr sz="2800">
              <a:latin typeface="Times New Roman"/>
              <a:cs typeface="Times New Roman"/>
            </a:endParaRPr>
          </a:p>
          <a:p>
            <a:pPr marL="226060" indent="-213360">
              <a:lnSpc>
                <a:spcPct val="100000"/>
              </a:lnSpc>
              <a:spcBef>
                <a:spcPts val="660"/>
              </a:spcBef>
              <a:buChar char="•"/>
              <a:tabLst>
                <a:tab pos="226060" algn="l"/>
              </a:tabLst>
            </a:pPr>
            <a:r>
              <a:rPr sz="2800" dirty="0">
                <a:latin typeface="Times New Roman"/>
                <a:cs typeface="Times New Roman"/>
              </a:rPr>
              <a:t>%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tcsh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myshellscript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-10" dirty="0">
                <a:latin typeface="Times New Roman"/>
                <a:cs typeface="Times New Roman"/>
              </a:rPr>
              <a:t>(-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verbose,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pour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débogage)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020"/>
              </a:lnSpc>
              <a:spcBef>
                <a:spcPts val="1055"/>
              </a:spcBef>
            </a:pPr>
            <a:r>
              <a:rPr sz="2800" dirty="0">
                <a:latin typeface="Times New Roman"/>
                <a:cs typeface="Times New Roman"/>
              </a:rPr>
              <a:t>Faire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l'interpréteur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exécutable,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puis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l'exécuter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tant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que </a:t>
            </a:r>
            <a:r>
              <a:rPr sz="2800" dirty="0">
                <a:latin typeface="Times New Roman"/>
                <a:cs typeface="Times New Roman"/>
              </a:rPr>
              <a:t>commande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(mettre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place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permission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d'exécution)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25425" indent="-213360">
              <a:lnSpc>
                <a:spcPct val="100000"/>
              </a:lnSpc>
              <a:spcBef>
                <a:spcPts val="625"/>
              </a:spcBef>
              <a:buChar char="•"/>
              <a:tabLst>
                <a:tab pos="226060" algn="l"/>
              </a:tabLst>
            </a:pPr>
            <a:r>
              <a:rPr sz="2800" dirty="0">
                <a:latin typeface="Times New Roman"/>
                <a:cs typeface="Times New Roman"/>
              </a:rPr>
              <a:t>%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chmod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u+x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myshellscript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66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Alors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soit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ceci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25425" indent="-213360">
              <a:lnSpc>
                <a:spcPct val="100000"/>
              </a:lnSpc>
              <a:spcBef>
                <a:spcPts val="670"/>
              </a:spcBef>
              <a:buChar char="•"/>
              <a:tabLst>
                <a:tab pos="226060" algn="l"/>
              </a:tabLst>
            </a:pPr>
            <a:r>
              <a:rPr sz="2800" dirty="0">
                <a:latin typeface="Times New Roman"/>
                <a:cs typeface="Times New Roman"/>
              </a:rPr>
              <a:t>%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myshellscript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latin typeface="Times New Roman"/>
                <a:cs typeface="Times New Roman"/>
              </a:rPr>
              <a:t>(si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variable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chemin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contient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'.'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;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problème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sécurité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!)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0704" y="52527"/>
            <a:ext cx="85312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Invocation d'un script Shell</a:t>
            </a:r>
            <a:r>
              <a:rPr sz="5400" spc="-20" dirty="0"/>
              <a:t> </a:t>
            </a:r>
            <a:r>
              <a:rPr sz="5400" spc="-25" dirty="0"/>
              <a:t>(2)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10692" y="1321269"/>
            <a:ext cx="11082655" cy="50158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7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Si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vous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obtenez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erreur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"myshellscrip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found"</a:t>
            </a:r>
            <a:endParaRPr sz="2800">
              <a:latin typeface="Times New Roman"/>
              <a:cs typeface="Times New Roman"/>
            </a:endParaRPr>
          </a:p>
          <a:p>
            <a:pPr marL="12700" marR="674370">
              <a:lnSpc>
                <a:spcPts val="3030"/>
              </a:lnSpc>
              <a:spcBef>
                <a:spcPts val="1040"/>
              </a:spcBef>
            </a:pP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probable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"."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n'est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dans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votre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chemin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d'accès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n'y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bit </a:t>
            </a:r>
            <a:r>
              <a:rPr sz="2800" dirty="0">
                <a:latin typeface="Times New Roman"/>
                <a:cs typeface="Times New Roman"/>
              </a:rPr>
              <a:t>d'exécution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défini.</a:t>
            </a:r>
            <a:endParaRPr sz="2800">
              <a:latin typeface="Times New Roman"/>
              <a:cs typeface="Times New Roman"/>
            </a:endParaRPr>
          </a:p>
          <a:p>
            <a:pPr marL="241300" marR="881380" indent="-228600">
              <a:lnSpc>
                <a:spcPts val="3020"/>
              </a:lnSpc>
              <a:spcBef>
                <a:spcPts val="99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Lorsque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vous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écrivez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scripts,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choisissez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noms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uniques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qui,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de </a:t>
            </a:r>
            <a:r>
              <a:rPr sz="2800" dirty="0">
                <a:latin typeface="Times New Roman"/>
                <a:cs typeface="Times New Roman"/>
              </a:rPr>
              <a:t>préférence,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correspondent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aux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système.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020"/>
              </a:lnSpc>
              <a:spcBef>
                <a:spcPts val="1019"/>
              </a:spcBef>
            </a:pP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mauvais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nom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serait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exemple,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puisqu'il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existe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nombreux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shells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cette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interne.</a:t>
            </a:r>
            <a:endParaRPr sz="2800">
              <a:latin typeface="Times New Roman"/>
              <a:cs typeface="Times New Roman"/>
            </a:endParaRPr>
          </a:p>
          <a:p>
            <a:pPr marL="241300" marR="230504" indent="-228600">
              <a:lnSpc>
                <a:spcPct val="90000"/>
              </a:lnSpc>
              <a:spcBef>
                <a:spcPts val="95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Pour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éviter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toute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ambiguïté,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faites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toujours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précéder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l'interpréteur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de </a:t>
            </a:r>
            <a:r>
              <a:rPr sz="2800" dirty="0">
                <a:latin typeface="Times New Roman"/>
                <a:cs typeface="Times New Roman"/>
              </a:rPr>
              <a:t>commandes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"./"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d'un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chemin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absolu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où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vous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auriez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nommer </a:t>
            </a:r>
            <a:r>
              <a:rPr sz="2800" dirty="0">
                <a:latin typeface="Times New Roman"/>
                <a:cs typeface="Times New Roman"/>
              </a:rPr>
              <a:t>votre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script.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4846" y="52527"/>
            <a:ext cx="97237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Commencer à écrire un script </a:t>
            </a:r>
            <a:r>
              <a:rPr sz="5400" spc="-10" dirty="0"/>
              <a:t>Shell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310692" y="1364945"/>
            <a:ext cx="10895965" cy="793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745"/>
              </a:spcBef>
            </a:pP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toute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première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ligne,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souvent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appelée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"shebang"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(#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!),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doit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précéder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toute </a:t>
            </a:r>
            <a:r>
              <a:rPr sz="2800" dirty="0">
                <a:latin typeface="Times New Roman"/>
                <a:cs typeface="Times New Roman"/>
              </a:rPr>
              <a:t>autre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ligne,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afin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s'assurer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shell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utilisé(invoqué).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692" y="4049344"/>
            <a:ext cx="10866755" cy="207263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commentaires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commencent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"#",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l'exception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#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!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$#,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qui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sont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séquences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caractères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spéciaux.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34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25" dirty="0">
                <a:latin typeface="Times New Roman"/>
                <a:cs typeface="Times New Roman"/>
              </a:rPr>
              <a:t>Tout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qui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trouve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ligne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après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#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ignoré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#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fait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partie</a:t>
            </a:r>
            <a:endParaRPr sz="2800">
              <a:latin typeface="Times New Roman"/>
              <a:cs typeface="Times New Roman"/>
            </a:endParaRPr>
          </a:p>
          <a:p>
            <a:pPr marL="12700" marR="176530">
              <a:lnSpc>
                <a:spcPts val="2690"/>
              </a:lnSpc>
              <a:spcBef>
                <a:spcPts val="985"/>
              </a:spcBef>
            </a:pPr>
            <a:r>
              <a:rPr sz="2800" dirty="0">
                <a:latin typeface="Times New Roman"/>
                <a:cs typeface="Times New Roman"/>
              </a:rPr>
              <a:t>d'une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chaîne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caractères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guillemets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d'une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séquence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caractères spéciaux.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8193" y="2420519"/>
            <a:ext cx="6049859" cy="12770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543" rIns="0" bIns="0" rtlCol="0">
            <a:spAutoFit/>
          </a:bodyPr>
          <a:lstStyle/>
          <a:p>
            <a:pPr marL="7042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Constructions</a:t>
            </a:r>
            <a:r>
              <a:rPr sz="4400" spc="-35" dirty="0"/>
              <a:t> </a:t>
            </a:r>
            <a:r>
              <a:rPr sz="4400" dirty="0"/>
              <a:t>de </a:t>
            </a:r>
            <a:r>
              <a:rPr sz="4400" spc="-10" dirty="0"/>
              <a:t>scripts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10692" y="1321269"/>
            <a:ext cx="4547235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7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35" dirty="0">
                <a:latin typeface="Times New Roman"/>
                <a:cs typeface="Times New Roman"/>
              </a:rPr>
              <a:t>Variables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système/interne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Flux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contrôle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(if,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case)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543" rIns="0" bIns="0" rtlCol="0">
            <a:spAutoFit/>
          </a:bodyPr>
          <a:lstStyle/>
          <a:p>
            <a:pPr marL="7042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Constructions</a:t>
            </a:r>
            <a:r>
              <a:rPr sz="4400" spc="-35" dirty="0"/>
              <a:t> </a:t>
            </a:r>
            <a:r>
              <a:rPr sz="4400" dirty="0"/>
              <a:t>de </a:t>
            </a:r>
            <a:r>
              <a:rPr sz="4400" spc="-10" dirty="0"/>
              <a:t>scripts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828800"/>
            <a:ext cx="9284177" cy="4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543" rIns="0" bIns="0" rtlCol="0">
            <a:spAutoFit/>
          </a:bodyPr>
          <a:lstStyle/>
          <a:p>
            <a:pPr marL="7042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Constructions</a:t>
            </a:r>
            <a:r>
              <a:rPr sz="4400" spc="-35" dirty="0"/>
              <a:t> </a:t>
            </a:r>
            <a:r>
              <a:rPr sz="4400" dirty="0"/>
              <a:t>de </a:t>
            </a:r>
            <a:r>
              <a:rPr sz="4400" spc="-10" dirty="0"/>
              <a:t>scripts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05" y="1282589"/>
            <a:ext cx="10058400" cy="41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18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543" rIns="0" bIns="0" rtlCol="0">
            <a:spAutoFit/>
          </a:bodyPr>
          <a:lstStyle/>
          <a:p>
            <a:pPr marL="7042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Constructions</a:t>
            </a:r>
            <a:r>
              <a:rPr sz="4400" spc="-35" dirty="0"/>
              <a:t> </a:t>
            </a:r>
            <a:r>
              <a:rPr sz="4400" dirty="0"/>
              <a:t>de </a:t>
            </a:r>
            <a:r>
              <a:rPr sz="4400" spc="-10" dirty="0"/>
              <a:t>scripts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58" y="1876341"/>
            <a:ext cx="10058400" cy="361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02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841" rIns="0" bIns="0" rtlCol="0">
            <a:spAutoFit/>
          </a:bodyPr>
          <a:lstStyle/>
          <a:p>
            <a:pPr marL="1627505">
              <a:lnSpc>
                <a:spcPct val="100000"/>
              </a:lnSpc>
              <a:spcBef>
                <a:spcPts val="100"/>
              </a:spcBef>
            </a:pPr>
            <a:r>
              <a:rPr sz="3600" b="1" spc="-35" dirty="0">
                <a:latin typeface="Times New Roman"/>
                <a:cs typeface="Times New Roman"/>
              </a:rPr>
              <a:t>Variables</a:t>
            </a:r>
            <a:r>
              <a:rPr sz="3600" b="1" spc="-17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internes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5425" y="1424050"/>
          <a:ext cx="11393170" cy="350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6585"/>
                <a:gridCol w="5696585"/>
              </a:tblGrid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$#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18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Indique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d'arguments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ligne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commande fournis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$0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Nous-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mêmes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(c'est-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à-dire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nom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 script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shell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exécuté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avec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chemin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d'accès)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$1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Premier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script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$2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Deuxième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argument,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ainsi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suite...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$?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Statut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sortie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dernière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commande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$$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Notre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PID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$!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PID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dernier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processus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d'arrière-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plan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$-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shell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État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actuel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coquille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841" rIns="0" bIns="0" rtlCol="0">
            <a:spAutoFit/>
          </a:bodyPr>
          <a:lstStyle/>
          <a:p>
            <a:pPr marL="1627505">
              <a:lnSpc>
                <a:spcPct val="100000"/>
              </a:lnSpc>
              <a:spcBef>
                <a:spcPts val="100"/>
              </a:spcBef>
            </a:pPr>
            <a:r>
              <a:rPr sz="3600" b="1" spc="-35" dirty="0">
                <a:latin typeface="Times New Roman"/>
                <a:cs typeface="Times New Roman"/>
              </a:rPr>
              <a:t>Variables</a:t>
            </a:r>
            <a:r>
              <a:rPr sz="3600" b="1" spc="-17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internes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31373"/>
            <a:ext cx="7106284" cy="41732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45"/>
              </a:spcBef>
              <a:buFont typeface="Wingdings"/>
              <a:buChar char=""/>
              <a:tabLst>
                <a:tab pos="241935" algn="l"/>
              </a:tabLst>
            </a:pPr>
            <a:r>
              <a:rPr sz="1800" dirty="0">
                <a:latin typeface="Times New Roman"/>
                <a:cs typeface="Times New Roman"/>
              </a:rPr>
              <a:t>Utilisez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commande shift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pour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décaler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arguments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d'une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unité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gauche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Supposons une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entrée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49860" indent="-137795">
              <a:lnSpc>
                <a:spcPct val="100000"/>
              </a:lnSpc>
              <a:spcBef>
                <a:spcPts val="355"/>
              </a:spcBef>
              <a:buChar char="•"/>
              <a:tabLst>
                <a:tab pos="150495" algn="l"/>
              </a:tabLst>
            </a:pPr>
            <a:r>
              <a:rPr sz="1800" dirty="0">
                <a:latin typeface="Times New Roman"/>
                <a:cs typeface="Times New Roman"/>
              </a:rPr>
              <a:t>./shift.sh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 foo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bar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59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$0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&lt;directory-</a:t>
            </a:r>
            <a:r>
              <a:rPr sz="1800" spc="-10" dirty="0">
                <a:latin typeface="Times New Roman"/>
                <a:cs typeface="Times New Roman"/>
              </a:rPr>
              <a:t>of&gt;/shift.sh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45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$1 =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50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$2 = </a:t>
            </a: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60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$3 = </a:t>
            </a:r>
            <a:r>
              <a:rPr sz="1800" spc="-25" dirty="0">
                <a:latin typeface="Times New Roman"/>
                <a:cs typeface="Times New Roman"/>
              </a:rPr>
              <a:t>foo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50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$4 = </a:t>
            </a:r>
            <a:r>
              <a:rPr sz="1800" spc="-25" dirty="0">
                <a:latin typeface="Times New Roman"/>
                <a:cs typeface="Times New Roman"/>
              </a:rPr>
              <a:t>bar</a:t>
            </a:r>
            <a:endParaRPr sz="1800">
              <a:latin typeface="Times New Roman"/>
              <a:cs typeface="Times New Roman"/>
            </a:endParaRPr>
          </a:p>
          <a:p>
            <a:pPr marL="149225" indent="-137160">
              <a:lnSpc>
                <a:spcPct val="100000"/>
              </a:lnSpc>
              <a:spcBef>
                <a:spcPts val="345"/>
              </a:spcBef>
              <a:buChar char="•"/>
              <a:tabLst>
                <a:tab pos="149860" algn="l"/>
              </a:tabLst>
            </a:pPr>
            <a:r>
              <a:rPr sz="1800" spc="-10" dirty="0">
                <a:latin typeface="Times New Roman"/>
                <a:cs typeface="Times New Roman"/>
              </a:rPr>
              <a:t>shift: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60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$0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&lt;directory-</a:t>
            </a:r>
            <a:r>
              <a:rPr sz="1800" spc="-10" dirty="0">
                <a:latin typeface="Times New Roman"/>
                <a:cs typeface="Times New Roman"/>
              </a:rPr>
              <a:t>of&gt;/shift.sh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50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$1 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50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$2 = </a:t>
            </a:r>
            <a:r>
              <a:rPr sz="1800" spc="-25" dirty="0">
                <a:latin typeface="Times New Roman"/>
                <a:cs typeface="Times New Roman"/>
              </a:rPr>
              <a:t>foo</a:t>
            </a:r>
            <a:endParaRPr sz="180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360"/>
              </a:spcBef>
              <a:buChar char="–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$3 = </a:t>
            </a:r>
            <a:r>
              <a:rPr sz="1800" spc="-25" dirty="0">
                <a:latin typeface="Times New Roman"/>
                <a:cs typeface="Times New Roman"/>
              </a:rPr>
              <a:t>bar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841" rIns="0" bIns="0" rtlCol="0">
            <a:spAutoFit/>
          </a:bodyPr>
          <a:lstStyle/>
          <a:p>
            <a:pPr marL="1871345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Times New Roman"/>
                <a:cs typeface="Times New Roman"/>
              </a:rPr>
              <a:t>Environnement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320655" cy="4286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9235">
              <a:lnSpc>
                <a:spcPts val="3030"/>
              </a:lnSpc>
              <a:spcBef>
                <a:spcPts val="47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Ces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éléments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bien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d'autres)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sont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disposition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l'interpréteur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de </a:t>
            </a:r>
            <a:r>
              <a:rPr sz="2800" dirty="0">
                <a:latin typeface="Times New Roman"/>
                <a:cs typeface="Times New Roman"/>
              </a:rPr>
              <a:t>commandes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 marR="1268095" indent="207645">
              <a:lnSpc>
                <a:spcPts val="3020"/>
              </a:lnSpc>
              <a:spcBef>
                <a:spcPts val="1005"/>
              </a:spcBef>
              <a:buChar char="-"/>
              <a:tabLst>
                <a:tab pos="220345" algn="l"/>
              </a:tabLst>
            </a:pPr>
            <a:r>
              <a:rPr sz="2800" spc="-114" dirty="0">
                <a:latin typeface="Times New Roman"/>
                <a:cs typeface="Times New Roman"/>
              </a:rPr>
              <a:t>$PATH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ensemble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répertoires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dans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lesquels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rechercher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des </a:t>
            </a:r>
            <a:r>
              <a:rPr sz="2800" spc="-10" dirty="0">
                <a:latin typeface="Times New Roman"/>
                <a:cs typeface="Times New Roman"/>
              </a:rPr>
              <a:t>commandes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25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$HOME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répertoire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personnel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$PWD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répertoire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travail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personnel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7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$PS1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invite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principale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5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$PS2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invite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d'entrée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$IFS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qu'il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faut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traiter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blancs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841" rIns="0" bIns="0" rtlCol="0">
            <a:spAutoFit/>
          </a:bodyPr>
          <a:lstStyle/>
          <a:p>
            <a:pPr marL="14732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Flux</a:t>
            </a:r>
            <a:r>
              <a:rPr sz="3600" b="1" spc="-7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de</a:t>
            </a:r>
            <a:r>
              <a:rPr sz="3600" b="1" spc="-7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contrôle</a:t>
            </a:r>
            <a:r>
              <a:rPr sz="3600" b="1" spc="-7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:</a:t>
            </a:r>
            <a:r>
              <a:rPr sz="3600" b="1" spc="-60" dirty="0">
                <a:latin typeface="Times New Roman"/>
                <a:cs typeface="Times New Roman"/>
              </a:rPr>
              <a:t> </a:t>
            </a:r>
            <a:r>
              <a:rPr sz="3600" b="1" spc="-25" dirty="0">
                <a:latin typeface="Times New Roman"/>
                <a:cs typeface="Times New Roman"/>
              </a:rPr>
              <a:t>if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050" y="1804161"/>
            <a:ext cx="284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Syntaxe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générale: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050" y="4360545"/>
            <a:ext cx="897890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5080" indent="-228600">
              <a:lnSpc>
                <a:spcPts val="3020"/>
              </a:lnSpc>
              <a:spcBef>
                <a:spcPts val="480"/>
              </a:spcBef>
              <a:buFont typeface="Wingdings"/>
              <a:buChar char=""/>
              <a:tabLst>
                <a:tab pos="472440" algn="l"/>
                <a:tab pos="473075" algn="l"/>
              </a:tabLst>
            </a:pPr>
            <a:r>
              <a:rPr sz="2800" spc="-10" dirty="0">
                <a:latin typeface="Times New Roman"/>
                <a:cs typeface="Times New Roman"/>
              </a:rPr>
              <a:t>&lt;expression&gt;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peut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être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soit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expression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logique,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soit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une </a:t>
            </a:r>
            <a:r>
              <a:rPr sz="2800" dirty="0">
                <a:latin typeface="Times New Roman"/>
                <a:cs typeface="Times New Roman"/>
              </a:rPr>
              <a:t>commande,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généralement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combinaison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deux.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5665" y="2411367"/>
            <a:ext cx="2820083" cy="159101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785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if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81050" y="1244879"/>
            <a:ext cx="5389880" cy="47117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434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dirty="0">
                <a:latin typeface="Times New Roman"/>
                <a:cs typeface="Times New Roman"/>
              </a:rPr>
              <a:t>Quelques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"opérateurs"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logiques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  <a:tabLst>
                <a:tab pos="733425" algn="l"/>
              </a:tabLst>
            </a:pP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25" dirty="0">
                <a:latin typeface="Times New Roman"/>
                <a:cs typeface="Times New Roman"/>
              </a:rPr>
              <a:t>eq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--</a:t>
            </a:r>
            <a:r>
              <a:rPr sz="2800" dirty="0">
                <a:latin typeface="Times New Roman"/>
                <a:cs typeface="Times New Roman"/>
              </a:rPr>
              <a:t>- </a:t>
            </a:r>
            <a:r>
              <a:rPr sz="2800" spc="-20" dirty="0">
                <a:latin typeface="Times New Roman"/>
                <a:cs typeface="Times New Roman"/>
              </a:rPr>
              <a:t>égal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733425" algn="l"/>
              </a:tabLst>
            </a:pP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25" dirty="0">
                <a:latin typeface="Times New Roman"/>
                <a:cs typeface="Times New Roman"/>
              </a:rPr>
              <a:t>ne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--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égal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684530" algn="l"/>
              </a:tabLst>
            </a:pP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25" dirty="0">
                <a:latin typeface="Times New Roman"/>
                <a:cs typeface="Times New Roman"/>
              </a:rPr>
              <a:t>lt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Inférieur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à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673735" algn="l"/>
              </a:tabLst>
            </a:pP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25" dirty="0">
                <a:latin typeface="Times New Roman"/>
                <a:cs typeface="Times New Roman"/>
              </a:rPr>
              <a:t>gt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Plus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que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664845" algn="l"/>
              </a:tabLst>
            </a:pP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---</a:t>
            </a:r>
            <a:r>
              <a:rPr sz="2800" spc="-25" dirty="0">
                <a:latin typeface="Times New Roman"/>
                <a:cs typeface="Times New Roman"/>
              </a:rPr>
              <a:t>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644525" algn="l"/>
              </a:tabLst>
            </a:pP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33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dirty="0">
                <a:latin typeface="Times New Roman"/>
                <a:cs typeface="Times New Roman"/>
              </a:rPr>
              <a:t>Fichier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ou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répertoire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516890" algn="l"/>
              </a:tabLst>
            </a:pP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---fichier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486409" algn="l"/>
              </a:tabLst>
            </a:pP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---répertoire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576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050" y="1330833"/>
            <a:ext cx="155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10" dirty="0">
                <a:latin typeface="Times New Roman"/>
                <a:cs typeface="Times New Roman"/>
              </a:rPr>
              <a:t>Syntaxe: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050" y="3887215"/>
            <a:ext cx="8279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peut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également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être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résultat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d'une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commande.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9735" y="2176272"/>
            <a:ext cx="5329427" cy="1790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576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646678" y="2228215"/>
            <a:ext cx="315531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*.txt;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imes New Roman"/>
                <a:cs typeface="Times New Roman"/>
              </a:rPr>
              <a:t>do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echo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“File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$file:”;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echo </a:t>
            </a:r>
            <a:r>
              <a:rPr sz="1800" spc="-20" dirty="0">
                <a:latin typeface="Times New Roman"/>
                <a:cs typeface="Times New Roman"/>
              </a:rPr>
              <a:t>"===START===“;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cat</a:t>
            </a:r>
            <a:r>
              <a:rPr sz="1800" spc="-10" dirty="0">
                <a:latin typeface="Times New Roman"/>
                <a:cs typeface="Times New Roman"/>
              </a:rPr>
              <a:t> $file;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echo </a:t>
            </a:r>
            <a:r>
              <a:rPr sz="1800" spc="-10" dirty="0">
                <a:latin typeface="Times New Roman"/>
                <a:cs typeface="Times New Roman"/>
              </a:rPr>
              <a:t>"===END===“;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done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while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050" y="1330833"/>
            <a:ext cx="1541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3540" algn="l"/>
              </a:tabLst>
            </a:pPr>
            <a:r>
              <a:rPr sz="2800" spc="-10" dirty="0">
                <a:latin typeface="Times New Roman"/>
                <a:cs typeface="Times New Roman"/>
              </a:rPr>
              <a:t>Syntaxe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7644" y="2429835"/>
            <a:ext cx="5104898" cy="23547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30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until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050" y="1330833"/>
            <a:ext cx="1541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3540" algn="l"/>
              </a:tabLst>
            </a:pPr>
            <a:r>
              <a:rPr sz="2800" spc="-10" dirty="0">
                <a:latin typeface="Times New Roman"/>
                <a:cs typeface="Times New Roman"/>
              </a:rPr>
              <a:t>Syntaxe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3210" y="2691115"/>
            <a:ext cx="4952295" cy="1991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latin typeface="Calibri"/>
                <a:cs typeface="Calibri"/>
              </a:rPr>
              <a:t>Exercice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050" y="1330833"/>
            <a:ext cx="1042289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25" dirty="0">
                <a:latin typeface="Times New Roman"/>
                <a:cs typeface="Times New Roman"/>
              </a:rPr>
              <a:t>Tous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fichiers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*.conf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répertoire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actuel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seront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copiés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nom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de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fichier.org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5805" y="2733542"/>
            <a:ext cx="5400587" cy="1616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100"/>
              </a:spcBef>
            </a:pPr>
            <a:r>
              <a:rPr dirty="0"/>
              <a:t>Plus</a:t>
            </a:r>
            <a:r>
              <a:rPr spc="-10" dirty="0"/>
              <a:t> d'exemples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5201" y="2178557"/>
            <a:ext cx="6819521" cy="3238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Plus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d'exemples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960" y="2252876"/>
            <a:ext cx="7358484" cy="29857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Processus</a:t>
            </a:r>
            <a:r>
              <a:rPr spc="10" dirty="0"/>
              <a:t> </a:t>
            </a:r>
            <a:r>
              <a:rPr spc="-10" dirty="0"/>
              <a:t>périodiques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36295" y="1717827"/>
            <a:ext cx="10499090" cy="2967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7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Cron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permet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d'exécuter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périodiquement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système.</a:t>
            </a:r>
            <a:endParaRPr sz="28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3020"/>
              </a:lnSpc>
              <a:spcBef>
                <a:spcPts val="106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tâches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peuvent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être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configurées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l'administrateur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les </a:t>
            </a:r>
            <a:r>
              <a:rPr sz="2800" spc="-10" dirty="0">
                <a:latin typeface="Times New Roman"/>
                <a:cs typeface="Times New Roman"/>
              </a:rPr>
              <a:t>utilisateurs.</a:t>
            </a:r>
            <a:endParaRPr sz="2800">
              <a:latin typeface="Times New Roman"/>
              <a:cs typeface="Times New Roman"/>
            </a:endParaRPr>
          </a:p>
          <a:p>
            <a:pPr marL="292100" indent="-280035">
              <a:lnSpc>
                <a:spcPct val="100000"/>
              </a:lnSpc>
              <a:spcBef>
                <a:spcPts val="620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table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Cron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stockée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dans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/etc/crontab</a:t>
            </a:r>
            <a:endParaRPr sz="2800">
              <a:latin typeface="Times New Roman"/>
              <a:cs typeface="Times New Roman"/>
            </a:endParaRPr>
          </a:p>
          <a:p>
            <a:pPr marL="292100" indent="-280035">
              <a:lnSpc>
                <a:spcPct val="100000"/>
              </a:lnSpc>
              <a:spcBef>
                <a:spcPts val="660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utilisateurs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peuvent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modifier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tâches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cron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AF50"/>
                </a:solidFill>
                <a:latin typeface="Times New Roman"/>
                <a:cs typeface="Times New Roman"/>
              </a:rPr>
              <a:t>crontab</a:t>
            </a:r>
            <a:r>
              <a:rPr sz="2800" b="1" spc="-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-</a:t>
            </a:r>
            <a:r>
              <a:rPr sz="28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292100" indent="-280035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dirty="0">
                <a:latin typeface="Times New Roman"/>
                <a:cs typeface="Times New Roman"/>
              </a:rPr>
              <a:t>Liste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AF50"/>
                </a:solidFill>
                <a:latin typeface="Times New Roman"/>
                <a:cs typeface="Times New Roman"/>
              </a:rPr>
              <a:t>crontab</a:t>
            </a:r>
            <a:r>
              <a:rPr sz="28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-</a:t>
            </a:r>
            <a:r>
              <a:rPr sz="28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Processus</a:t>
            </a:r>
            <a:r>
              <a:rPr spc="10" dirty="0"/>
              <a:t> </a:t>
            </a:r>
            <a:r>
              <a:rPr spc="-10" dirty="0"/>
              <a:t>périodiques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36295" y="1283614"/>
            <a:ext cx="7913370" cy="51384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77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Chaque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entrée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comporte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champs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75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Minutes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00-</a:t>
            </a:r>
            <a:r>
              <a:rPr sz="2800" spc="-25" dirty="0">
                <a:latin typeface="Times New Roman"/>
                <a:cs typeface="Times New Roman"/>
              </a:rPr>
              <a:t>59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0"/>
              </a:spcBef>
              <a:buChar char="-"/>
              <a:tabLst>
                <a:tab pos="220345" algn="l"/>
                <a:tab pos="1405255" algn="l"/>
              </a:tabLst>
            </a:pPr>
            <a:r>
              <a:rPr sz="2800" spc="-10" dirty="0">
                <a:latin typeface="Times New Roman"/>
                <a:cs typeface="Times New Roman"/>
              </a:rPr>
              <a:t>Heures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0-</a:t>
            </a:r>
            <a:r>
              <a:rPr sz="2800" dirty="0">
                <a:latin typeface="Times New Roman"/>
                <a:cs typeface="Times New Roman"/>
              </a:rPr>
              <a:t>23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milieu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nuit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correspond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0)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Jour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1-</a:t>
            </a:r>
            <a:r>
              <a:rPr sz="2800" spc="-25" dirty="0">
                <a:latin typeface="Times New Roman"/>
                <a:cs typeface="Times New Roman"/>
              </a:rPr>
              <a:t>31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70"/>
              </a:spcBef>
              <a:buChar char="-"/>
              <a:tabLst>
                <a:tab pos="220345" algn="l"/>
                <a:tab pos="2630805" algn="l"/>
              </a:tabLst>
            </a:pPr>
            <a:r>
              <a:rPr sz="2800" dirty="0">
                <a:latin typeface="Times New Roman"/>
                <a:cs typeface="Times New Roman"/>
              </a:rPr>
              <a:t>Mois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l'année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1-</a:t>
            </a:r>
            <a:r>
              <a:rPr sz="2800" spc="-25" dirty="0">
                <a:latin typeface="Times New Roman"/>
                <a:cs typeface="Times New Roman"/>
              </a:rPr>
              <a:t>12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5"/>
              </a:spcBef>
              <a:buChar char="-"/>
              <a:tabLst>
                <a:tab pos="220345" algn="l"/>
                <a:tab pos="3030220" algn="l"/>
              </a:tabLst>
            </a:pPr>
            <a:r>
              <a:rPr sz="2800" dirty="0">
                <a:latin typeface="Times New Roman"/>
                <a:cs typeface="Times New Roman"/>
              </a:rPr>
              <a:t>Jour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semaine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0-</a:t>
            </a:r>
            <a:r>
              <a:rPr sz="2800" dirty="0">
                <a:latin typeface="Times New Roman"/>
                <a:cs typeface="Times New Roman"/>
              </a:rPr>
              <a:t>6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dimanche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0)</a:t>
            </a:r>
            <a:endParaRPr sz="2800">
              <a:latin typeface="Times New Roman"/>
              <a:cs typeface="Times New Roman"/>
            </a:endParaRPr>
          </a:p>
          <a:p>
            <a:pPr marL="213360" indent="-201295">
              <a:lnSpc>
                <a:spcPct val="100000"/>
              </a:lnSpc>
              <a:spcBef>
                <a:spcPts val="660"/>
              </a:spcBef>
              <a:buChar char="-"/>
              <a:tabLst>
                <a:tab pos="213995" algn="l"/>
              </a:tabLst>
            </a:pPr>
            <a:r>
              <a:rPr sz="2800" spc="-10" dirty="0">
                <a:latin typeface="Times New Roman"/>
                <a:cs typeface="Times New Roman"/>
              </a:rPr>
              <a:t>Travail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exécuter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toutes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valeurs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légales</a:t>
            </a:r>
            <a:endParaRPr sz="2800">
              <a:latin typeface="Times New Roman"/>
              <a:cs typeface="Times New Roman"/>
            </a:endParaRPr>
          </a:p>
          <a:p>
            <a:pPr marL="12700" marR="5080" indent="316865">
              <a:lnSpc>
                <a:spcPct val="119600"/>
              </a:lnSpc>
              <a:spcBef>
                <a:spcPts val="5"/>
              </a:spcBef>
              <a:buFont typeface="Arial MT"/>
              <a:buChar char="•"/>
              <a:tabLst>
                <a:tab pos="329565" algn="l"/>
                <a:tab pos="330200" algn="l"/>
              </a:tabLst>
            </a:pPr>
            <a:r>
              <a:rPr sz="2800" dirty="0">
                <a:latin typeface="Times New Roman"/>
                <a:cs typeface="Times New Roman"/>
              </a:rPr>
              <a:t>","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entrées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multiples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séparées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virgule </a:t>
            </a:r>
            <a:r>
              <a:rPr sz="2800" dirty="0">
                <a:latin typeface="Times New Roman"/>
                <a:cs typeface="Times New Roman"/>
              </a:rPr>
              <a:t>#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implique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commentaires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Processus</a:t>
            </a:r>
            <a:r>
              <a:rPr spc="10" dirty="0"/>
              <a:t> </a:t>
            </a:r>
            <a:r>
              <a:rPr spc="-10" dirty="0"/>
              <a:t>périodiques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36295" y="1283614"/>
            <a:ext cx="10563225" cy="45008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77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Règles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relatives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aux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champs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75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seul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chiffre,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c'est-à-</a:t>
            </a:r>
            <a:r>
              <a:rPr sz="2800" dirty="0">
                <a:latin typeface="Times New Roman"/>
                <a:cs typeface="Times New Roman"/>
              </a:rPr>
              <a:t>dire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plage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plages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c'est-à-</a:t>
            </a:r>
            <a:r>
              <a:rPr sz="2800" dirty="0">
                <a:latin typeface="Times New Roman"/>
                <a:cs typeface="Times New Roman"/>
              </a:rPr>
              <a:t>dire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1-100/5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ie.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1,3,5,7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65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joker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66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17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1,2,3,4,5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/usr/backup</a:t>
            </a:r>
            <a:endParaRPr sz="28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3030"/>
              </a:lnSpc>
              <a:spcBef>
                <a:spcPts val="105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Exécuter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/usr/backup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17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heures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lundi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vendredi,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chaque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semaine, </a:t>
            </a:r>
            <a:r>
              <a:rPr sz="2800" dirty="0">
                <a:latin typeface="Times New Roman"/>
                <a:cs typeface="Times New Roman"/>
              </a:rPr>
              <a:t>chaque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l'année.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Processus</a:t>
            </a:r>
            <a:r>
              <a:rPr spc="10" dirty="0"/>
              <a:t> </a:t>
            </a:r>
            <a:r>
              <a:rPr spc="-10" dirty="0"/>
              <a:t>périodiques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36295" y="1369567"/>
            <a:ext cx="10669905" cy="35763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51435" indent="-228600">
              <a:lnSpc>
                <a:spcPts val="3020"/>
              </a:lnSpc>
              <a:spcBef>
                <a:spcPts val="48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démon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Cron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démarre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fichiers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rc</a:t>
            </a:r>
            <a:r>
              <a:rPr sz="2800" dirty="0">
                <a:latin typeface="Times New Roman"/>
                <a:cs typeface="Times New Roman"/>
              </a:rPr>
              <a:t>.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fois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lancé,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il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s'arrête jamais.</a:t>
            </a:r>
            <a:endParaRPr sz="28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90000"/>
              </a:lnSpc>
              <a:spcBef>
                <a:spcPts val="96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dirty="0">
                <a:latin typeface="Times New Roman"/>
                <a:cs typeface="Times New Roman"/>
              </a:rPr>
              <a:t>Cron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nous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permet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programmer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programmes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pour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une </a:t>
            </a:r>
            <a:r>
              <a:rPr sz="2800" b="1" dirty="0">
                <a:latin typeface="Times New Roman"/>
                <a:cs typeface="Times New Roman"/>
              </a:rPr>
              <a:t>exécution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périodique</a:t>
            </a:r>
            <a:r>
              <a:rPr sz="2800" dirty="0">
                <a:latin typeface="Times New Roman"/>
                <a:cs typeface="Times New Roman"/>
              </a:rPr>
              <a:t>.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Cependant,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cron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n'est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outil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général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pour </a:t>
            </a:r>
            <a:r>
              <a:rPr sz="2800" dirty="0">
                <a:latin typeface="Times New Roman"/>
                <a:cs typeface="Times New Roman"/>
              </a:rPr>
              <a:t>planifier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l'exécution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programmes</a:t>
            </a:r>
            <a:endParaRPr sz="2800">
              <a:latin typeface="Times New Roman"/>
              <a:cs typeface="Times New Roman"/>
            </a:endParaRPr>
          </a:p>
          <a:p>
            <a:pPr marL="240665" marR="1414145" indent="-228600">
              <a:lnSpc>
                <a:spcPts val="3030"/>
              </a:lnSpc>
              <a:spcBef>
                <a:spcPts val="104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Cron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n'est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outil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général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pour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programmer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l'exécution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de </a:t>
            </a:r>
            <a:r>
              <a:rPr sz="2800" dirty="0">
                <a:latin typeface="Times New Roman"/>
                <a:cs typeface="Times New Roman"/>
              </a:rPr>
              <a:t>programmes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dehors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heures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bureau.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utiliser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Processus</a:t>
            </a:r>
            <a:r>
              <a:rPr spc="10" dirty="0"/>
              <a:t> </a:t>
            </a:r>
            <a:r>
              <a:rPr spc="-10" dirty="0"/>
              <a:t>périodiques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36295" y="1283614"/>
            <a:ext cx="10697845" cy="47999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434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*/2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mailq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"Courriers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bloqués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..."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nimal</a:t>
            </a:r>
            <a:endParaRPr sz="2800">
              <a:latin typeface="Times New Roman"/>
              <a:cs typeface="Times New Roman"/>
            </a:endParaRPr>
          </a:p>
          <a:p>
            <a:pPr marL="240665" marR="311150" indent="-228600">
              <a:lnSpc>
                <a:spcPts val="2690"/>
              </a:lnSpc>
              <a:spcBef>
                <a:spcPts val="985"/>
              </a:spcBef>
              <a:buSzPct val="96428"/>
              <a:buFont typeface="Wingdings"/>
              <a:buChar char=""/>
              <a:tabLst>
                <a:tab pos="383540" algn="l"/>
              </a:tabLst>
            </a:pPr>
            <a:r>
              <a:rPr sz="2800" dirty="0">
                <a:latin typeface="Times New Roman"/>
                <a:cs typeface="Times New Roman"/>
              </a:rPr>
              <a:t>Utilise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mailq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deux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jours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pour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s'il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courrier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bloqué </a:t>
            </a:r>
            <a:r>
              <a:rPr sz="2800" dirty="0">
                <a:latin typeface="Times New Roman"/>
                <a:cs typeface="Times New Roman"/>
              </a:rPr>
              <a:t>dans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d'attente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envoie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courrier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l'administrateur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(nimal@...).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34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*/2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/dev/rft0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rewind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;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/dev/rft0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/etc</a:t>
            </a:r>
            <a:endParaRPr sz="2800">
              <a:latin typeface="Times New Roman"/>
              <a:cs typeface="Times New Roman"/>
            </a:endParaRPr>
          </a:p>
          <a:p>
            <a:pPr marL="240665" marR="488950" indent="-228600">
              <a:lnSpc>
                <a:spcPct val="80000"/>
              </a:lnSpc>
              <a:spcBef>
                <a:spcPts val="994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S'exécute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2:00AM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premier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jour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mois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deux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mois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pour </a:t>
            </a:r>
            <a:r>
              <a:rPr sz="2800" dirty="0">
                <a:latin typeface="Times New Roman"/>
                <a:cs typeface="Times New Roman"/>
              </a:rPr>
              <a:t>sauvegarder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/etc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bande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(assurez-</a:t>
            </a:r>
            <a:r>
              <a:rPr sz="2800" dirty="0">
                <a:latin typeface="Times New Roman"/>
                <a:cs typeface="Times New Roman"/>
              </a:rPr>
              <a:t>vous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bande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dans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le </a:t>
            </a:r>
            <a:r>
              <a:rPr sz="2800" dirty="0">
                <a:latin typeface="Times New Roman"/>
                <a:cs typeface="Times New Roman"/>
              </a:rPr>
              <a:t>lecteur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!!)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34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même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chose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peut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être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écrite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sous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suivante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690"/>
              </a:lnSpc>
              <a:spcBef>
                <a:spcPts val="170"/>
              </a:spcBef>
            </a:pP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25" dirty="0">
                <a:latin typeface="Times New Roman"/>
                <a:cs typeface="Times New Roman"/>
              </a:rPr>
              <a:t> janv,mar,mai,juil,sep,nov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/dev/rft0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rewind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;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cf/dev/rft0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/etc </a:t>
            </a: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cmd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cmd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Processus</a:t>
            </a:r>
            <a:r>
              <a:rPr spc="10" dirty="0"/>
              <a:t> </a:t>
            </a:r>
            <a:r>
              <a:rPr spc="-10" dirty="0"/>
              <a:t>périodiques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36295" y="1283614"/>
            <a:ext cx="6957059" cy="41167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*/5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cmd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1-</a:t>
            </a:r>
            <a:r>
              <a:rPr sz="2800" dirty="0">
                <a:latin typeface="Times New Roman"/>
                <a:cs typeface="Times New Roman"/>
              </a:rPr>
              <a:t>15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cmd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4,5</a:t>
            </a:r>
            <a:r>
              <a:rPr sz="2800" spc="-25" dirty="0">
                <a:latin typeface="Times New Roman"/>
                <a:cs typeface="Times New Roman"/>
              </a:rPr>
              <a:t> cmd</a:t>
            </a:r>
            <a:endParaRPr sz="2800">
              <a:latin typeface="Times New Roman"/>
              <a:cs typeface="Times New Roman"/>
            </a:endParaRPr>
          </a:p>
          <a:p>
            <a:pPr marL="213360" indent="-201295">
              <a:lnSpc>
                <a:spcPct val="100000"/>
              </a:lnSpc>
              <a:spcBef>
                <a:spcPts val="660"/>
              </a:spcBef>
              <a:buChar char="-"/>
              <a:tabLst>
                <a:tab pos="213995" algn="l"/>
              </a:tabLst>
            </a:pPr>
            <a:r>
              <a:rPr sz="2800" spc="-30" dirty="0">
                <a:latin typeface="Times New Roman"/>
                <a:cs typeface="Times New Roman"/>
              </a:rPr>
              <a:t>Tous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soirs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00h00</a:t>
            </a:r>
            <a:endParaRPr sz="2800">
              <a:latin typeface="Times New Roman"/>
              <a:cs typeface="Times New Roman"/>
            </a:endParaRPr>
          </a:p>
          <a:p>
            <a:pPr marL="219710" indent="-207645">
              <a:lnSpc>
                <a:spcPct val="100000"/>
              </a:lnSpc>
              <a:spcBef>
                <a:spcPts val="670"/>
              </a:spcBef>
              <a:buChar char="-"/>
              <a:tabLst>
                <a:tab pos="220345" algn="l"/>
              </a:tabLst>
            </a:pPr>
            <a:r>
              <a:rPr sz="2800" dirty="0">
                <a:latin typeface="Times New Roman"/>
                <a:cs typeface="Times New Roman"/>
              </a:rPr>
              <a:t>4h05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samedi</a:t>
            </a:r>
            <a:endParaRPr sz="2800">
              <a:latin typeface="Times New Roman"/>
              <a:cs typeface="Times New Roman"/>
            </a:endParaRPr>
          </a:p>
          <a:p>
            <a:pPr marL="201295" indent="-189230">
              <a:lnSpc>
                <a:spcPct val="100000"/>
              </a:lnSpc>
              <a:spcBef>
                <a:spcPts val="665"/>
              </a:spcBef>
              <a:buChar char="-"/>
              <a:tabLst>
                <a:tab pos="201930" algn="l"/>
              </a:tabLst>
            </a:pP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1h00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jours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1er,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6ème,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11ème,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201295" indent="-189230">
              <a:lnSpc>
                <a:spcPct val="100000"/>
              </a:lnSpc>
              <a:spcBef>
                <a:spcPts val="660"/>
              </a:spcBef>
              <a:buChar char="-"/>
              <a:tabLst>
                <a:tab pos="201930" algn="l"/>
              </a:tabLst>
            </a:pP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1h00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jours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15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inclus</a:t>
            </a:r>
            <a:endParaRPr sz="2800">
              <a:latin typeface="Times New Roman"/>
              <a:cs typeface="Times New Roman"/>
            </a:endParaRPr>
          </a:p>
          <a:p>
            <a:pPr marL="213360" indent="-201295">
              <a:lnSpc>
                <a:spcPct val="100000"/>
              </a:lnSpc>
              <a:spcBef>
                <a:spcPts val="670"/>
              </a:spcBef>
              <a:buChar char="-"/>
              <a:tabLst>
                <a:tab pos="213995" algn="l"/>
              </a:tabLst>
            </a:pPr>
            <a:r>
              <a:rPr sz="2800" spc="-30" dirty="0">
                <a:latin typeface="Times New Roman"/>
                <a:cs typeface="Times New Roman"/>
              </a:rPr>
              <a:t>Tous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jeudis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vendredis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décembre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6461" y="591388"/>
            <a:ext cx="47993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00000"/>
                </a:solidFill>
              </a:rPr>
              <a:t>Ce</a:t>
            </a:r>
            <a:r>
              <a:rPr sz="4800" spc="-5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qui</a:t>
            </a:r>
            <a:r>
              <a:rPr sz="4800" spc="-5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faut</a:t>
            </a:r>
            <a:r>
              <a:rPr sz="4800" spc="-5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retenir</a:t>
            </a:r>
            <a:r>
              <a:rPr sz="4800" spc="-5" dirty="0">
                <a:solidFill>
                  <a:srgbClr val="000000"/>
                </a:solidFill>
              </a:rPr>
              <a:t> </a:t>
            </a:r>
            <a:r>
              <a:rPr sz="4800" spc="-50" dirty="0">
                <a:solidFill>
                  <a:srgbClr val="000000"/>
                </a:solidFill>
              </a:rPr>
              <a:t>: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17651" y="1614677"/>
            <a:ext cx="4877435" cy="223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Notions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 base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les </a:t>
            </a:r>
            <a:r>
              <a:rPr sz="3200" spc="-10" dirty="0">
                <a:latin typeface="Times New Roman"/>
                <a:cs typeface="Times New Roman"/>
              </a:rPr>
              <a:t>shell</a:t>
            </a:r>
            <a:endParaRPr sz="32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915"/>
              </a:spcBef>
              <a:buFont typeface="Arial MT"/>
              <a:buChar char="•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Les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scripts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Bash</a:t>
            </a:r>
            <a:endParaRPr sz="32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930"/>
              </a:spcBef>
              <a:buFont typeface="Arial MT"/>
              <a:buChar char="•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Processus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périodiques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</TotalTime>
  <Words>1722</Words>
  <Application>Microsoft Office PowerPoint</Application>
  <PresentationFormat>Grand écran</PresentationFormat>
  <Paragraphs>269</Paragraphs>
  <Slides>40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6" baseType="lpstr">
      <vt:lpstr>Arial MT</vt:lpstr>
      <vt:lpstr>Calibri</vt:lpstr>
      <vt:lpstr>Constantia</vt:lpstr>
      <vt:lpstr>Times New Roman</vt:lpstr>
      <vt:lpstr>Wingdings</vt:lpstr>
      <vt:lpstr>Office Theme</vt:lpstr>
      <vt:lpstr>Chapitre 4 : Automatisation de l'administration des systèmes</vt:lpstr>
      <vt:lpstr>Automatisation de l'administration des systèmes</vt:lpstr>
      <vt:lpstr>Shell Basics</vt:lpstr>
      <vt:lpstr>Shell Basics</vt:lpstr>
      <vt:lpstr>Shell Basics</vt:lpstr>
      <vt:lpstr>Shell Basics</vt:lpstr>
      <vt:lpstr>Shell Basics</vt:lpstr>
      <vt:lpstr>Édition en ligne de commande</vt:lpstr>
      <vt:lpstr>Édition en ligne de commande</vt:lpstr>
      <vt:lpstr>Interaction de l'utilisateur avec le shell</vt:lpstr>
      <vt:lpstr>Scripts Bash</vt:lpstr>
      <vt:lpstr>Scripts Shell</vt:lpstr>
      <vt:lpstr>Que sont les scripts Shell ?</vt:lpstr>
      <vt:lpstr>Pourquoi ne pas utiliser C/C++ pour cela ?</vt:lpstr>
      <vt:lpstr>Invocation d'un script Shell</vt:lpstr>
      <vt:lpstr>Invocation d'un script Shell (2)</vt:lpstr>
      <vt:lpstr>Commencer à écrire un script Shell</vt:lpstr>
      <vt:lpstr>Constructions de scripts</vt:lpstr>
      <vt:lpstr>Constructions de scripts</vt:lpstr>
      <vt:lpstr>Constructions de scripts</vt:lpstr>
      <vt:lpstr>Constructions de scripts</vt:lpstr>
      <vt:lpstr>Variables internes</vt:lpstr>
      <vt:lpstr>Variables internes</vt:lpstr>
      <vt:lpstr>Environnement</vt:lpstr>
      <vt:lpstr>Flux de contrôle : if</vt:lpstr>
      <vt:lpstr>if</vt:lpstr>
      <vt:lpstr>for</vt:lpstr>
      <vt:lpstr>for</vt:lpstr>
      <vt:lpstr>while</vt:lpstr>
      <vt:lpstr>until</vt:lpstr>
      <vt:lpstr>Exercice</vt:lpstr>
      <vt:lpstr>Plus d'exemples</vt:lpstr>
      <vt:lpstr>Plus d'exemples</vt:lpstr>
      <vt:lpstr>Processus périodiques</vt:lpstr>
      <vt:lpstr>Processus périodiques</vt:lpstr>
      <vt:lpstr>Processus périodiques</vt:lpstr>
      <vt:lpstr>Processus périodiques</vt:lpstr>
      <vt:lpstr>Processus périodiques</vt:lpstr>
      <vt:lpstr>Processus périodiques</vt:lpstr>
      <vt:lpstr>Ce qui faut retenir 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sada</dc:creator>
  <cp:lastModifiedBy>hp</cp:lastModifiedBy>
  <cp:revision>4</cp:revision>
  <dcterms:created xsi:type="dcterms:W3CDTF">2024-10-23T21:48:26Z</dcterms:created>
  <dcterms:modified xsi:type="dcterms:W3CDTF">2024-12-05T11:03:20Z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2023-07-09T00:00:00Z</vt:filetime>
  </property>
  <property fmtid="{D5CDD505-2E9C-101B-9397-08002B2CF9AE}" pid="3" name="Creator">
    <vt:lpwstr>Microsoft® PowerPoint® 2013</vt:lpwstr>
  </property>
  <property fmtid="{D5CDD505-2E9C-101B-9397-08002B2CF9AE}" pid="4" name="LastSaved">
    <vt:filetime>2024-10-23T00:00:00Z</vt:filetime>
  </property>
  <property fmtid="{D5CDD505-2E9C-101B-9397-08002B2CF9AE}" pid="5" name="Producer">
    <vt:lpwstr>Microsoft® PowerPoint® 2013</vt:lpwstr>
  </property>
</Properties>
</file>